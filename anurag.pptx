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custom" cy="6858000" cx="12192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rgbClr val="000000"/>
        </a:solidFill>
        <a:latin typeface="Calibri" pitchFamily="34" charset="0"/>
        <a:ea typeface="Calibri" pitchFamily="34" charset="0"/>
        <a:sym typeface="Calibri" pitchFamily="34" charset="0"/>
      </a:defRPr>
    </a:lvl1pPr>
    <a:lvl2pPr algn="l" eaLnBrk="0" fontAlgn="base" hangingPunct="0" indent="45720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rgbClr val="000000"/>
        </a:solidFill>
        <a:latin typeface="Calibri" pitchFamily="34" charset="0"/>
        <a:ea typeface="Calibri" pitchFamily="34" charset="0"/>
        <a:sym typeface="Calibri" pitchFamily="34" charset="0"/>
      </a:defRPr>
    </a:lvl2pPr>
    <a:lvl3pPr algn="l" eaLnBrk="0" fontAlgn="base" hangingPunct="0" indent="91440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rgbClr val="000000"/>
        </a:solidFill>
        <a:latin typeface="Calibri" pitchFamily="34" charset="0"/>
        <a:ea typeface="Calibri" pitchFamily="34" charset="0"/>
        <a:sym typeface="Calibri" pitchFamily="34" charset="0"/>
      </a:defRPr>
    </a:lvl3pPr>
    <a:lvl4pPr algn="l" eaLnBrk="0" fontAlgn="base" hangingPunct="0" indent="137160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rgbClr val="000000"/>
        </a:solidFill>
        <a:latin typeface="Calibri" pitchFamily="34" charset="0"/>
        <a:ea typeface="Calibri" pitchFamily="34" charset="0"/>
        <a:sym typeface="Calibri" pitchFamily="34" charset="0"/>
      </a:defRPr>
    </a:lvl4pPr>
    <a:lvl5pPr algn="l" eaLnBrk="0" fontAlgn="base" hangingPunct="0" indent="182880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rgbClr val="000000"/>
        </a:solidFill>
        <a:latin typeface="Calibri" pitchFamily="34" charset="0"/>
        <a:ea typeface="Calibri" pitchFamily="34" charset="0"/>
        <a:sym typeface="Calibri" pitchFamily="34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slideViewPr>
    <p:cSldViewPr>
      <p:cViewPr>
        <p:scale>
          <a:sx n="0" d="0"/>
          <a:sy n="0" d="0"/>
        </p:scale>
        <p:origin x="0" y="0"/>
      </p:cViewPr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27" name="Shape 17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/>
        </p:txBody>
      </p:sp>
      <p:sp>
        <p:nvSpPr>
          <p:cNvPr id="1049228" name="Shape 18"/>
          <p:cNvSpPr/>
          <p:nvPr>
            <p:ph type="body" sz="quarter" idx="1"/>
          </p:nvPr>
        </p:nvSpPr>
        <p:spPr>
          <a:xfrm rot="0">
            <a:off x="914400" y="4343400"/>
            <a:ext cx="50292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/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Helvetica Neue" pitchFamily="0" charset="1"/>
        <a:ea typeface="Helvetica Neue" pitchFamily="0" charset="1"/>
        <a:sym typeface="Helvetica Neue" pitchFamily="0" charset="1"/>
      </a:defRPr>
    </a:lvl1pPr>
    <a:lvl2pPr algn="l" eaLnBrk="0" fontAlgn="base" hangingPunct="0" indent="-285750" latinLnBrk="0" marL="74295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Helvetica Neue" pitchFamily="0" charset="1"/>
        <a:ea typeface="Helvetica Neue" pitchFamily="0" charset="1"/>
        <a:sym typeface="Helvetica Neue" pitchFamily="0" charset="1"/>
      </a:defRPr>
    </a:lvl2pPr>
    <a:lvl3pPr algn="l" eaLnBrk="0" fontAlgn="base" hangingPunct="0" indent="-228600" latinLnBrk="0" marL="11430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Helvetica Neue" pitchFamily="0" charset="1"/>
        <a:ea typeface="Helvetica Neue" pitchFamily="0" charset="1"/>
        <a:sym typeface="Helvetica Neue" pitchFamily="0" charset="1"/>
      </a:defRPr>
    </a:lvl3pPr>
    <a:lvl4pPr algn="l" eaLnBrk="0" fontAlgn="base" hangingPunct="0" indent="-228600" latinLnBrk="0" marL="1600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Helvetica Neue" pitchFamily="0" charset="1"/>
        <a:ea typeface="Helvetica Neue" pitchFamily="0" charset="1"/>
        <a:sym typeface="Helvetica Neue" pitchFamily="0" charset="1"/>
      </a:defRPr>
    </a:lvl4pPr>
    <a:lvl5pPr algn="l" eaLnBrk="0" fontAlgn="base" hangingPunct="0" indent="-228600" latinLnBrk="0" marL="2057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Helvetica Neue" pitchFamily="0" charset="1"/>
        <a:ea typeface="Helvetica Neue" pitchFamily="0" charset="1"/>
        <a:sym typeface="Helvetica Neue" pitchFamily="0" charset="1"/>
      </a:defRPr>
    </a:lvl5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Slide Number"/>
          <p:cNvSpPr txBox="1"/>
          <p:nvPr>
            <p:ph type="sldNum" sz="quarter" idx="2"/>
          </p:nvPr>
        </p:nvSpPr>
        <p:spPr>
          <a:xfrm rot="0">
            <a:off x="5892800" y="6172200"/>
            <a:ext cx="2844800" cy="368300"/>
          </a:xfrm>
          <a:prstGeom prst="rect"/>
          <a:noFill/>
          <a:ln>
            <a:noFill/>
          </a:ln>
        </p:spPr>
        <p:txBody>
          <a:bodyPr anchor="ctr" bIns="45720" lIns="45719" rIns="45719" tIns="45720" vert="horz" wrap="none">
            <a:spAutoFit/>
          </a:bodyPr>
          <a:lstStyle>
            <a:lvl1pPr algn="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1pPr>
            <a:lvl2pPr algn="r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2pPr>
            <a:lvl3pPr algn="r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3pPr>
            <a:lvl4pPr algn="r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4pPr>
            <a:lvl5pPr algn="r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5pPr>
          </a:lstStyle>
          <a:p>
            <a:pPr algn="r" eaLnBrk="1" lvl="0"/>
            <a:fld id="{566ABCEB-ACFC-4714-9973-3DA970169C29}" type="slidenum">
              <a:rPr sz="1200"/>
              <a:pPr algn="r" eaLnBrk="1" lvl="0"/>
            </a:fld>
            <a:endParaRPr sz="120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rgbClr val="FFFFFF"/>
        </a:solidFill>
      </p:bgPr>
    </p:bg>
    <p:spTree>
      <p:nvGrpSpPr>
        <p:cNvPr id="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Title Text"/>
          <p:cNvSpPr txBox="1"/>
          <p:nvPr>
            <p:ph type="title" sz="full" idx="0"/>
          </p:nvPr>
        </p:nvSpPr>
        <p:spPr>
          <a:xfrm rot="0">
            <a:off x="914400" y="1844675"/>
            <a:ext cx="10363200" cy="2041525"/>
          </a:xfrm>
          <a:prstGeom prst="rect"/>
          <a:noFill/>
          <a:ln>
            <a:noFill/>
          </a:ln>
        </p:spPr>
        <p:txBody>
          <a:bodyPr anchor="ctr" bIns="45720" lIns="45719" rIns="45719" tIns="45720" vert="horz"/>
          <a:p>
            <a:pPr lvl="0"/>
            <a:r>
              <a:t>Title Text</a:t>
            </a:r>
          </a:p>
        </p:txBody>
      </p:sp>
      <p:sp>
        <p:nvSpPr>
          <p:cNvPr id="1048577" name="Body Level One…"/>
          <p:cNvSpPr txBox="1"/>
          <p:nvPr>
            <p:ph type="body" sz="full" idx="1"/>
          </p:nvPr>
        </p:nvSpPr>
        <p:spPr>
          <a:xfrm rot="0">
            <a:off x="1828800" y="3886200"/>
            <a:ext cx="8534400" cy="2971800"/>
          </a:xfrm>
          <a:prstGeom prst="rect"/>
          <a:noFill/>
          <a:ln>
            <a:noFill/>
          </a:ln>
        </p:spPr>
        <p:txBody>
          <a:bodyPr anchor="t" bIns="45720" lIns="45719" rIns="45719" tIns="45720" vert="horz"/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8578" name="Slide Number"/>
          <p:cNvSpPr txBox="1"/>
          <p:nvPr>
            <p:ph type="sldNum" sz="quarter" idx="2"/>
          </p:nvPr>
        </p:nvSpPr>
        <p:spPr>
          <a:xfrm rot="0">
            <a:off x="5892800" y="6172200"/>
            <a:ext cx="2844800" cy="368300"/>
          </a:xfrm>
          <a:prstGeom prst="rect"/>
          <a:noFill/>
          <a:ln>
            <a:noFill/>
          </a:ln>
        </p:spPr>
        <p:txBody>
          <a:bodyPr anchor="ctr" bIns="45720" lIns="45719" rIns="45719" tIns="45720" vert="horz" wrap="none">
            <a:spAutoFit/>
          </a:bodyPr>
          <a:lstStyle>
            <a:lvl1pPr algn="r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1pPr>
            <a:lvl2pPr algn="r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2pPr>
            <a:lvl3pPr algn="r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3pPr>
            <a:lvl4pPr algn="r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4pPr>
            <a:lvl5pPr algn="r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200" i="0" u="none">
                <a:solidFill>
                  <a:schemeClr val="dk1"/>
                </a:solidFill>
                <a:latin typeface="Helvetica Neue" pitchFamily="0" charset="1"/>
                <a:ea typeface="Helvetica Neue" pitchFamily="0" charset="1"/>
                <a:sym typeface="Calibri" pitchFamily="34" charset="0"/>
              </a:defRPr>
            </a:lvl5pPr>
          </a:lstStyle>
          <a:p>
            <a:pPr algn="r" eaLnBrk="1" lvl="0"/>
            <a:fld id="{566ABCEB-ACFC-4714-9973-3DA970169C29}" type="slidenum">
              <a:rPr sz="1200"/>
              <a:pPr algn="r" eaLnBrk="1" lvl="0"/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</p:sldLayoutIdLst>
  <p:hf dt="0" ftr="0" sldNum="0"/>
  <p:txStyles>
    <p:titleStyle>
      <a:lvl1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1pPr>
      <a:lvl2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2pPr>
      <a:lvl3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3pPr>
      <a:lvl4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4pPr>
      <a:lvl5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5pPr>
      <a:lvl6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6pPr>
      <a:lvl7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7pPr>
      <a:lvl8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8pPr>
      <a:lvl9pPr algn="l" defTabSz="914400" indent="0" latinLnBrk="0" marL="0" marR="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4400" i="0" spc="0" strike="noStrike" u="none">
          <a:solidFill>
            <a:srgbClr val="000000"/>
          </a:solidFill>
          <a:latin typeface="Calibri Light"/>
          <a:ea typeface="Calibri Light"/>
          <a:cs typeface="Calibri Light"/>
          <a:sym typeface="Calibri Light"/>
        </a:defRPr>
      </a:lvl9pPr>
    </p:titleStyle>
    <p:bodyStyle>
      <a:lvl1pPr algn="l" defTabSz="914400" indent="-228600" latinLnBrk="0" marL="2286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1pPr>
      <a:lvl2pPr algn="l" defTabSz="914400" indent="-266700" latinLnBrk="0" marL="7239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2pPr>
      <a:lvl3pPr algn="l" defTabSz="914400" indent="-320039" latinLnBrk="0" marL="1234439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3pPr>
      <a:lvl4pPr algn="l" defTabSz="914400" indent="-355600" latinLnBrk="0" marL="17272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4pPr>
      <a:lvl5pPr algn="l" defTabSz="914400" indent="-355600" latinLnBrk="0" marL="21844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5pPr>
      <a:lvl6pPr algn="l" defTabSz="914400" indent="-355600" latinLnBrk="0" marL="26416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6pPr>
      <a:lvl7pPr algn="l" defTabSz="914400" indent="-355600" latinLnBrk="0" marL="30988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7pPr>
      <a:lvl8pPr algn="l" defTabSz="914400" indent="-355600" latinLnBrk="0" marL="35560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8pPr>
      <a:lvl9pPr algn="l" defTabSz="914400" indent="-355600" latinLnBrk="0" marL="4013200" marR="0" rtl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baseline="0" b="0" cap="none" sz="2800" i="0" spc="0" strike="noStrike" u="none">
          <a:solidFill>
            <a:srgbClr val="000000"/>
          </a:solidFill>
          <a:latin typeface="Calibri"/>
          <a:ea typeface="Calibri"/>
          <a:cs typeface="Calibri"/>
          <a:sym typeface="Calibri"/>
        </a:defRPr>
      </a:lvl9pPr>
    </p:bodyStyle>
    <p:otherStyle>
      <a:lvl1pPr algn="r" defTabSz="914400" indent="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Calibri"/>
          <a:ea typeface="Calibri"/>
          <a:cs typeface="+mn-cs"/>
          <a:sym typeface="Calibri"/>
        </a:defRPr>
      </a:lvl1pPr>
      <a:lvl2pPr algn="r" defTabSz="914400" indent="4572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Calibri"/>
          <a:ea typeface="Calibri"/>
          <a:cs typeface="+mn-cs"/>
          <a:sym typeface="Calibri"/>
        </a:defRPr>
      </a:lvl2pPr>
      <a:lvl3pPr algn="r" defTabSz="914400" indent="9144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Calibri"/>
          <a:ea typeface="Calibri"/>
          <a:cs typeface="+mn-cs"/>
          <a:sym typeface="Calibri"/>
        </a:defRPr>
      </a:lvl3pPr>
      <a:lvl4pPr algn="r" defTabSz="914400" indent="13716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Calibri"/>
          <a:ea typeface="Calibri"/>
          <a:cs typeface="+mn-cs"/>
          <a:sym typeface="Calibri"/>
        </a:defRPr>
      </a:lvl4pPr>
      <a:lvl5pPr algn="r" defTabSz="914400" indent="18288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Calibri"/>
          <a:ea typeface="Calibri"/>
          <a:cs typeface="+mn-cs"/>
          <a:sym typeface="Calibri"/>
        </a:defRPr>
      </a:lvl5pPr>
      <a:lvl6pPr algn="r" defTabSz="914400" indent="22860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914400" indent="27432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914400" indent="32004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914400" indent="3657600" latinLnBrk="0" marL="0" marR="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baseline="0" b="0" cap="none" sz="1200" i="0" spc="0" strike="noStrike" u="none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9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580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581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582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4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583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84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15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585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86" name="01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01</a:t>
              </a:r>
            </a:p>
          </p:txBody>
        </p:sp>
      </p:grpSp>
      <p:sp>
        <p:nvSpPr>
          <p:cNvPr id="1048587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6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588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89" name="ATLIQ MEDIA / LEADERSHIP STAKEHOLDER DECK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/ LEADERSHIP STAKEHOLDER DECK</a:t>
              </a:r>
            </a:p>
          </p:txBody>
        </p:sp>
      </p:grpSp>
      <p:grpSp>
        <p:nvGrpSpPr>
          <p:cNvPr id="17" name=""/>
          <p:cNvGrpSpPr/>
          <p:nvPr/>
        </p:nvGrpSpPr>
        <p:grpSpPr>
          <a:xfrm rot="0">
            <a:off x="552450" y="885825"/>
            <a:ext cx="8001000" cy="2143125"/>
            <a:chOff x="0" y="0"/>
            <a:chExt cx="8001000" cy="2143125"/>
          </a:xfrm>
        </p:grpSpPr>
        <p:sp>
          <p:nvSpPr>
            <p:cNvPr id="1048590" name="Rectangle"/>
            <p:cNvSpPr/>
            <p:nvPr/>
          </p:nvSpPr>
          <p:spPr>
            <a:xfrm rot="0">
              <a:off x="0" y="0"/>
              <a:ext cx="8001000" cy="2143125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4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591" name="Tamil Nadu 2026 is a map reset, not a routine swing."/>
            <p:cNvSpPr txBox="1"/>
            <p:nvPr/>
          </p:nvSpPr>
          <p:spPr>
            <a:xfrm rot="0">
              <a:off x="0" y="0"/>
              <a:ext cx="8001000" cy="139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4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Tamil Nadu 2026 is a map reset, not a routine swing.</a:t>
              </a:r>
            </a:p>
          </p:txBody>
        </p:sp>
      </p:grpSp>
      <p:grpSp>
        <p:nvGrpSpPr>
          <p:cNvPr id="18" name=""/>
          <p:cNvGrpSpPr/>
          <p:nvPr/>
        </p:nvGrpSpPr>
        <p:grpSpPr>
          <a:xfrm rot="0">
            <a:off x="590550" y="3105150"/>
            <a:ext cx="6477000" cy="723900"/>
            <a:chOff x="0" y="0"/>
            <a:chExt cx="6477000" cy="723900"/>
          </a:xfrm>
        </p:grpSpPr>
        <p:sp>
          <p:nvSpPr>
            <p:cNvPr id="1048592" name="Rectangle"/>
            <p:cNvSpPr/>
            <p:nvPr/>
          </p:nvSpPr>
          <p:spPr>
            <a:xfrm rot="0">
              <a:off x="0" y="0"/>
              <a:ext cx="6477000" cy="7239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2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93" name="Three linked signals explain the election story AtliQ Media should own: high seat churn, vote-share transfer with turnout expansion, and thinner winning margins across the state."/>
            <p:cNvSpPr txBox="1"/>
            <p:nvPr/>
          </p:nvSpPr>
          <p:spPr>
            <a:xfrm rot="0">
              <a:off x="0" y="0"/>
              <a:ext cx="647700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2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Three linked signals explain the election story AtliQ Media should own: high seat churn, vote-share transfer with turnout expansion, and thinner winning margins across the state.</a:t>
              </a:r>
            </a:p>
          </p:txBody>
        </p:sp>
      </p:grpSp>
      <p:sp>
        <p:nvSpPr>
          <p:cNvPr id="1048594" name="Rounded Rectangle"/>
          <p:cNvSpPr/>
          <p:nvPr/>
        </p:nvSpPr>
        <p:spPr>
          <a:xfrm rot="0">
            <a:off x="590550" y="4305300"/>
            <a:ext cx="238125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9" name=""/>
          <p:cNvGrpSpPr/>
          <p:nvPr/>
        </p:nvGrpSpPr>
        <p:grpSpPr>
          <a:xfrm rot="0">
            <a:off x="762000" y="4457700"/>
            <a:ext cx="2057400" cy="228600"/>
            <a:chOff x="0" y="0"/>
            <a:chExt cx="2057400" cy="228600"/>
          </a:xfrm>
        </p:grpSpPr>
        <p:sp>
          <p:nvSpPr>
            <p:cNvPr id="1048595" name="Rectangle"/>
            <p:cNvSpPr/>
            <p:nvPr/>
          </p:nvSpPr>
          <p:spPr>
            <a:xfrm rot="0">
              <a:off x="0" y="0"/>
              <a:ext cx="2057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96" name="SEATS ANALYSED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SEATS ANALYSED</a:t>
              </a:r>
            </a:p>
          </p:txBody>
        </p:sp>
      </p:grpSp>
      <p:grpSp>
        <p:nvGrpSpPr>
          <p:cNvPr id="20" name=""/>
          <p:cNvGrpSpPr/>
          <p:nvPr/>
        </p:nvGrpSpPr>
        <p:grpSpPr>
          <a:xfrm rot="0">
            <a:off x="762000" y="4714875"/>
            <a:ext cx="2057400" cy="406400"/>
            <a:chOff x="0" y="0"/>
            <a:chExt cx="2057400" cy="406400"/>
          </a:xfrm>
        </p:grpSpPr>
        <p:sp>
          <p:nvSpPr>
            <p:cNvPr id="1048597" name="Rectangle"/>
            <p:cNvSpPr/>
            <p:nvPr/>
          </p:nvSpPr>
          <p:spPr>
            <a:xfrm rot="0">
              <a:off x="0" y="0"/>
              <a:ext cx="205740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598" name="234"/>
            <p:cNvSpPr txBox="1"/>
            <p:nvPr/>
          </p:nvSpPr>
          <p:spPr>
            <a:xfrm rot="0">
              <a:off x="0" y="0"/>
              <a:ext cx="205740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234</a:t>
              </a:r>
            </a:p>
          </p:txBody>
        </p:sp>
      </p:grpSp>
      <p:grpSp>
        <p:nvGrpSpPr>
          <p:cNvPr id="21" name=""/>
          <p:cNvGrpSpPr/>
          <p:nvPr/>
        </p:nvGrpSpPr>
        <p:grpSpPr>
          <a:xfrm rot="0">
            <a:off x="762000" y="5181600"/>
            <a:ext cx="2057400" cy="133350"/>
            <a:chOff x="0" y="0"/>
            <a:chExt cx="2057400" cy="133350"/>
          </a:xfrm>
        </p:grpSpPr>
        <p:sp>
          <p:nvSpPr>
            <p:cNvPr id="1048599" name="Rectangle"/>
            <p:cNvSpPr/>
            <p:nvPr/>
          </p:nvSpPr>
          <p:spPr>
            <a:xfrm rot="0">
              <a:off x="0" y="0"/>
              <a:ext cx="2057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00" name="full assembly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full assembly</a:t>
              </a:r>
            </a:p>
          </p:txBody>
        </p:sp>
      </p:grpSp>
      <p:sp>
        <p:nvSpPr>
          <p:cNvPr id="1048601" name="Rounded Rectangle"/>
          <p:cNvSpPr/>
          <p:nvPr/>
        </p:nvSpPr>
        <p:spPr>
          <a:xfrm rot="0">
            <a:off x="3162300" y="4305300"/>
            <a:ext cx="238125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2" name=""/>
          <p:cNvGrpSpPr/>
          <p:nvPr/>
        </p:nvGrpSpPr>
        <p:grpSpPr>
          <a:xfrm rot="0">
            <a:off x="3333750" y="4457700"/>
            <a:ext cx="2057400" cy="228600"/>
            <a:chOff x="0" y="0"/>
            <a:chExt cx="2057400" cy="228600"/>
          </a:xfrm>
        </p:grpSpPr>
        <p:sp>
          <p:nvSpPr>
            <p:cNvPr id="1048602" name="Rectangle"/>
            <p:cNvSpPr/>
            <p:nvPr/>
          </p:nvSpPr>
          <p:spPr>
            <a:xfrm rot="0">
              <a:off x="0" y="0"/>
              <a:ext cx="2057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03" name="CHANGED HANDS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CHANGED HANDS</a:t>
              </a:r>
            </a:p>
          </p:txBody>
        </p:sp>
      </p:grpSp>
      <p:grpSp>
        <p:nvGrpSpPr>
          <p:cNvPr id="23" name=""/>
          <p:cNvGrpSpPr/>
          <p:nvPr/>
        </p:nvGrpSpPr>
        <p:grpSpPr>
          <a:xfrm rot="0">
            <a:off x="3333750" y="4714875"/>
            <a:ext cx="2057400" cy="406400"/>
            <a:chOff x="0" y="0"/>
            <a:chExt cx="2057400" cy="406400"/>
          </a:xfrm>
        </p:grpSpPr>
        <p:sp>
          <p:nvSpPr>
            <p:cNvPr id="1048604" name="Rectangle"/>
            <p:cNvSpPr/>
            <p:nvPr/>
          </p:nvSpPr>
          <p:spPr>
            <a:xfrm rot="0">
              <a:off x="0" y="0"/>
              <a:ext cx="205740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05" name="163"/>
            <p:cNvSpPr txBox="1"/>
            <p:nvPr/>
          </p:nvSpPr>
          <p:spPr>
            <a:xfrm rot="0">
              <a:off x="0" y="0"/>
              <a:ext cx="205740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163</a:t>
              </a:r>
            </a:p>
          </p:txBody>
        </p:sp>
      </p:grpSp>
      <p:grpSp>
        <p:nvGrpSpPr>
          <p:cNvPr id="24" name=""/>
          <p:cNvGrpSpPr/>
          <p:nvPr/>
        </p:nvGrpSpPr>
        <p:grpSpPr>
          <a:xfrm rot="0">
            <a:off x="3333750" y="5181600"/>
            <a:ext cx="2057400" cy="133350"/>
            <a:chOff x="0" y="0"/>
            <a:chExt cx="2057400" cy="133350"/>
          </a:xfrm>
        </p:grpSpPr>
        <p:sp>
          <p:nvSpPr>
            <p:cNvPr id="1048606" name="Rectangle"/>
            <p:cNvSpPr/>
            <p:nvPr/>
          </p:nvSpPr>
          <p:spPr>
            <a:xfrm rot="0">
              <a:off x="0" y="0"/>
              <a:ext cx="2057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07" name="70% churn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70% churn</a:t>
              </a:r>
            </a:p>
          </p:txBody>
        </p:sp>
      </p:grpSp>
      <p:sp>
        <p:nvSpPr>
          <p:cNvPr id="1048608" name="Rounded Rectangle"/>
          <p:cNvSpPr/>
          <p:nvPr/>
        </p:nvSpPr>
        <p:spPr>
          <a:xfrm rot="0">
            <a:off x="5734050" y="4305300"/>
            <a:ext cx="238125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5" name=""/>
          <p:cNvGrpSpPr/>
          <p:nvPr/>
        </p:nvGrpSpPr>
        <p:grpSpPr>
          <a:xfrm rot="0">
            <a:off x="5905500" y="4457700"/>
            <a:ext cx="2057400" cy="228600"/>
            <a:chOff x="0" y="0"/>
            <a:chExt cx="2057400" cy="228600"/>
          </a:xfrm>
        </p:grpSpPr>
        <p:sp>
          <p:nvSpPr>
            <p:cNvPr id="1048609" name="Rectangle"/>
            <p:cNvSpPr/>
            <p:nvPr/>
          </p:nvSpPr>
          <p:spPr>
            <a:xfrm rot="0">
              <a:off x="0" y="0"/>
              <a:ext cx="2057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10" name="AVG MARGIN SHIFT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AVG MARGIN SHIFT</a:t>
              </a:r>
            </a:p>
          </p:txBody>
        </p:sp>
      </p:grpSp>
      <p:grpSp>
        <p:nvGrpSpPr>
          <p:cNvPr id="26" name=""/>
          <p:cNvGrpSpPr/>
          <p:nvPr/>
        </p:nvGrpSpPr>
        <p:grpSpPr>
          <a:xfrm rot="0">
            <a:off x="5905500" y="4714875"/>
            <a:ext cx="2057400" cy="406400"/>
            <a:chOff x="0" y="0"/>
            <a:chExt cx="2057400" cy="406400"/>
          </a:xfrm>
        </p:grpSpPr>
        <p:sp>
          <p:nvSpPr>
            <p:cNvPr id="1048611" name="Rectangle"/>
            <p:cNvSpPr/>
            <p:nvPr/>
          </p:nvSpPr>
          <p:spPr>
            <a:xfrm rot="0">
              <a:off x="0" y="0"/>
              <a:ext cx="205740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DF815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12" name="-27%"/>
            <p:cNvSpPr txBox="1"/>
            <p:nvPr/>
          </p:nvSpPr>
          <p:spPr>
            <a:xfrm rot="0">
              <a:off x="0" y="0"/>
              <a:ext cx="205740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DF815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-27%</a:t>
              </a:r>
            </a:p>
          </p:txBody>
        </p:sp>
      </p:grpSp>
      <p:grpSp>
        <p:nvGrpSpPr>
          <p:cNvPr id="27" name=""/>
          <p:cNvGrpSpPr/>
          <p:nvPr/>
        </p:nvGrpSpPr>
        <p:grpSpPr>
          <a:xfrm rot="0">
            <a:off x="5905500" y="5181600"/>
            <a:ext cx="2057400" cy="133350"/>
            <a:chOff x="0" y="0"/>
            <a:chExt cx="2057400" cy="133350"/>
          </a:xfrm>
        </p:grpSpPr>
        <p:sp>
          <p:nvSpPr>
            <p:cNvPr id="1048613" name="Rectangle"/>
            <p:cNvSpPr/>
            <p:nvPr/>
          </p:nvSpPr>
          <p:spPr>
            <a:xfrm rot="0">
              <a:off x="0" y="0"/>
              <a:ext cx="2057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14" name="2021 to 2026"/>
            <p:cNvSpPr txBox="1"/>
            <p:nvPr/>
          </p:nvSpPr>
          <p:spPr>
            <a:xfrm rot="0">
              <a:off x="0" y="0"/>
              <a:ext cx="2057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2021 to 2026</a:t>
              </a:r>
            </a:p>
          </p:txBody>
        </p:sp>
      </p:grpSp>
      <p:sp>
        <p:nvSpPr>
          <p:cNvPr id="1048615" name="Rounded Rectangle"/>
          <p:cNvSpPr/>
          <p:nvPr/>
        </p:nvSpPr>
        <p:spPr>
          <a:xfrm rot="0">
            <a:off x="8858250" y="876300"/>
            <a:ext cx="2571750" cy="4191000"/>
          </a:xfrm>
          <a:prstGeom prst="roundRect">
            <a:avLst>
              <a:gd name="adj" fmla="val 2963"/>
            </a:avLst>
          </a:prstGeom>
          <a:solidFill>
            <a:srgbClr val="2F241E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8" name=""/>
          <p:cNvGrpSpPr/>
          <p:nvPr/>
        </p:nvGrpSpPr>
        <p:grpSpPr>
          <a:xfrm rot="0">
            <a:off x="9105900" y="1200150"/>
            <a:ext cx="2000250" cy="228600"/>
            <a:chOff x="0" y="0"/>
            <a:chExt cx="2000250" cy="228600"/>
          </a:xfrm>
        </p:grpSpPr>
        <p:sp>
          <p:nvSpPr>
            <p:cNvPr id="1048616" name="Rectangle"/>
            <p:cNvSpPr/>
            <p:nvPr/>
          </p:nvSpPr>
          <p:spPr>
            <a:xfrm rot="0">
              <a:off x="0" y="0"/>
              <a:ext cx="2000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D8B88E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17" name="THE THREE-STORY READ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D8B88E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THREE-STORY READ</a:t>
              </a:r>
            </a:p>
          </p:txBody>
        </p:sp>
      </p:grpSp>
      <p:grpSp>
        <p:nvGrpSpPr>
          <p:cNvPr id="29" name=""/>
          <p:cNvGrpSpPr/>
          <p:nvPr/>
        </p:nvGrpSpPr>
        <p:grpSpPr>
          <a:xfrm rot="0">
            <a:off x="9105900" y="1676400"/>
            <a:ext cx="438150" cy="342900"/>
            <a:chOff x="0" y="0"/>
            <a:chExt cx="438150" cy="342900"/>
          </a:xfrm>
        </p:grpSpPr>
        <p:sp>
          <p:nvSpPr>
            <p:cNvPr id="1048618" name="Rectangle"/>
            <p:cNvSpPr/>
            <p:nvPr/>
          </p:nvSpPr>
          <p:spPr>
            <a:xfrm rot="0">
              <a:off x="0" y="0"/>
              <a:ext cx="438150" cy="3429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>
                <a:solidFill>
                  <a:srgbClr val="D8B88E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19" name="01"/>
            <p:cNvSpPr txBox="1"/>
            <p:nvPr/>
          </p:nvSpPr>
          <p:spPr>
            <a:xfrm rot="0">
              <a:off x="0" y="0"/>
              <a:ext cx="438150" cy="3048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lang="zh-CN">
                  <a:solidFill>
                    <a:srgbClr val="D8B88E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01</a:t>
              </a:r>
            </a:p>
          </p:txBody>
        </p:sp>
      </p:grpSp>
      <p:grpSp>
        <p:nvGrpSpPr>
          <p:cNvPr id="30" name=""/>
          <p:cNvGrpSpPr/>
          <p:nvPr/>
        </p:nvGrpSpPr>
        <p:grpSpPr>
          <a:xfrm rot="0">
            <a:off x="9620250" y="1685925"/>
            <a:ext cx="1428750" cy="209550"/>
            <a:chOff x="0" y="0"/>
            <a:chExt cx="1428750" cy="209550"/>
          </a:xfrm>
        </p:grpSpPr>
        <p:sp>
          <p:nvSpPr>
            <p:cNvPr id="1048620" name="Rectangle"/>
            <p:cNvSpPr/>
            <p:nvPr/>
          </p:nvSpPr>
          <p:spPr>
            <a:xfrm rot="0">
              <a:off x="0" y="0"/>
              <a:ext cx="142875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21" name="The Flip"/>
            <p:cNvSpPr txBox="1"/>
            <p:nvPr/>
          </p:nvSpPr>
          <p:spPr>
            <a:xfrm rot="0">
              <a:off x="0" y="0"/>
              <a:ext cx="1428750" cy="152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Flip</a:t>
              </a:r>
            </a:p>
          </p:txBody>
        </p:sp>
      </p:grpSp>
      <p:grpSp>
        <p:nvGrpSpPr>
          <p:cNvPr id="31" name=""/>
          <p:cNvGrpSpPr/>
          <p:nvPr/>
        </p:nvGrpSpPr>
        <p:grpSpPr>
          <a:xfrm rot="0">
            <a:off x="9620250" y="1933575"/>
            <a:ext cx="1466850" cy="400050"/>
            <a:chOff x="0" y="0"/>
            <a:chExt cx="1466850" cy="400050"/>
          </a:xfrm>
        </p:grpSpPr>
        <p:sp>
          <p:nvSpPr>
            <p:cNvPr id="1048622" name="Rectangle"/>
            <p:cNvSpPr/>
            <p:nvPr/>
          </p:nvSpPr>
          <p:spPr>
            <a:xfrm rot="0">
              <a:off x="0" y="0"/>
              <a:ext cx="1466850" cy="4000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800">
                <a:solidFill>
                  <a:srgbClr val="D9C6B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23" name="163 seats changed winning party."/>
            <p:cNvSpPr txBox="1"/>
            <p:nvPr/>
          </p:nvSpPr>
          <p:spPr>
            <a:xfrm rot="0">
              <a:off x="0" y="0"/>
              <a:ext cx="1466850" cy="254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800" lang="zh-CN">
                  <a:solidFill>
                    <a:srgbClr val="D9C6B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163 seats changed winning party.</a:t>
              </a:r>
            </a:p>
          </p:txBody>
        </p:sp>
      </p:grpSp>
      <p:grpSp>
        <p:nvGrpSpPr>
          <p:cNvPr id="32" name=""/>
          <p:cNvGrpSpPr/>
          <p:nvPr/>
        </p:nvGrpSpPr>
        <p:grpSpPr>
          <a:xfrm rot="0">
            <a:off x="9105900" y="2647950"/>
            <a:ext cx="438150" cy="342900"/>
            <a:chOff x="0" y="0"/>
            <a:chExt cx="438150" cy="342900"/>
          </a:xfrm>
        </p:grpSpPr>
        <p:sp>
          <p:nvSpPr>
            <p:cNvPr id="1048624" name="Rectangle"/>
            <p:cNvSpPr/>
            <p:nvPr/>
          </p:nvSpPr>
          <p:spPr>
            <a:xfrm rot="0">
              <a:off x="0" y="0"/>
              <a:ext cx="438150" cy="3429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>
                <a:solidFill>
                  <a:srgbClr val="D8B88E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25" name="02"/>
            <p:cNvSpPr txBox="1"/>
            <p:nvPr/>
          </p:nvSpPr>
          <p:spPr>
            <a:xfrm rot="0">
              <a:off x="0" y="0"/>
              <a:ext cx="438150" cy="3048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lang="zh-CN">
                  <a:solidFill>
                    <a:srgbClr val="D8B88E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02</a:t>
              </a:r>
            </a:p>
          </p:txBody>
        </p:sp>
      </p:grpSp>
      <p:grpSp>
        <p:nvGrpSpPr>
          <p:cNvPr id="33" name=""/>
          <p:cNvGrpSpPr/>
          <p:nvPr/>
        </p:nvGrpSpPr>
        <p:grpSpPr>
          <a:xfrm rot="0">
            <a:off x="9620250" y="2657475"/>
            <a:ext cx="1428750" cy="209550"/>
            <a:chOff x="0" y="0"/>
            <a:chExt cx="1428750" cy="209550"/>
          </a:xfrm>
        </p:grpSpPr>
        <p:sp>
          <p:nvSpPr>
            <p:cNvPr id="1048626" name="Rectangle"/>
            <p:cNvSpPr/>
            <p:nvPr/>
          </p:nvSpPr>
          <p:spPr>
            <a:xfrm rot="0">
              <a:off x="0" y="0"/>
              <a:ext cx="142875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27" name="The Vote"/>
            <p:cNvSpPr txBox="1"/>
            <p:nvPr/>
          </p:nvSpPr>
          <p:spPr>
            <a:xfrm rot="0">
              <a:off x="0" y="0"/>
              <a:ext cx="1428750" cy="152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Vote</a:t>
              </a:r>
            </a:p>
          </p:txBody>
        </p:sp>
      </p:grpSp>
      <p:grpSp>
        <p:nvGrpSpPr>
          <p:cNvPr id="34" name=""/>
          <p:cNvGrpSpPr/>
          <p:nvPr/>
        </p:nvGrpSpPr>
        <p:grpSpPr>
          <a:xfrm rot="0">
            <a:off x="9620250" y="2905125"/>
            <a:ext cx="1466850" cy="400050"/>
            <a:chOff x="0" y="0"/>
            <a:chExt cx="1466850" cy="400050"/>
          </a:xfrm>
        </p:grpSpPr>
        <p:sp>
          <p:nvSpPr>
            <p:cNvPr id="1048628" name="Rectangle"/>
            <p:cNvSpPr/>
            <p:nvPr/>
          </p:nvSpPr>
          <p:spPr>
            <a:xfrm rot="0">
              <a:off x="0" y="0"/>
              <a:ext cx="1466850" cy="4000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800">
                <a:solidFill>
                  <a:srgbClr val="D9C6B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29" name="TVK reached 35.1% as turnout rose."/>
            <p:cNvSpPr txBox="1"/>
            <p:nvPr/>
          </p:nvSpPr>
          <p:spPr>
            <a:xfrm rot="0">
              <a:off x="0" y="0"/>
              <a:ext cx="1466850" cy="254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800" lang="zh-CN">
                  <a:solidFill>
                    <a:srgbClr val="D9C6B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 reached 35.1% as turnout rose.</a:t>
              </a:r>
            </a:p>
          </p:txBody>
        </p:sp>
      </p:grpSp>
      <p:grpSp>
        <p:nvGrpSpPr>
          <p:cNvPr id="35" name=""/>
          <p:cNvGrpSpPr/>
          <p:nvPr/>
        </p:nvGrpSpPr>
        <p:grpSpPr>
          <a:xfrm rot="0">
            <a:off x="9105900" y="3619500"/>
            <a:ext cx="438150" cy="342900"/>
            <a:chOff x="0" y="0"/>
            <a:chExt cx="438150" cy="342900"/>
          </a:xfrm>
        </p:grpSpPr>
        <p:sp>
          <p:nvSpPr>
            <p:cNvPr id="1048630" name="Rectangle"/>
            <p:cNvSpPr/>
            <p:nvPr/>
          </p:nvSpPr>
          <p:spPr>
            <a:xfrm rot="0">
              <a:off x="0" y="0"/>
              <a:ext cx="438150" cy="3429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>
                <a:solidFill>
                  <a:srgbClr val="D8B88E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31" name="03"/>
            <p:cNvSpPr txBox="1"/>
            <p:nvPr/>
          </p:nvSpPr>
          <p:spPr>
            <a:xfrm rot="0">
              <a:off x="0" y="0"/>
              <a:ext cx="438150" cy="3048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lang="zh-CN">
                  <a:solidFill>
                    <a:srgbClr val="D8B88E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03</a:t>
              </a:r>
            </a:p>
          </p:txBody>
        </p:sp>
      </p:grpSp>
      <p:grpSp>
        <p:nvGrpSpPr>
          <p:cNvPr id="36" name=""/>
          <p:cNvGrpSpPr/>
          <p:nvPr/>
        </p:nvGrpSpPr>
        <p:grpSpPr>
          <a:xfrm rot="0">
            <a:off x="9620250" y="3629025"/>
            <a:ext cx="1428750" cy="209550"/>
            <a:chOff x="0" y="0"/>
            <a:chExt cx="1428750" cy="209550"/>
          </a:xfrm>
        </p:grpSpPr>
        <p:sp>
          <p:nvSpPr>
            <p:cNvPr id="1048632" name="Rectangle"/>
            <p:cNvSpPr/>
            <p:nvPr/>
          </p:nvSpPr>
          <p:spPr>
            <a:xfrm rot="0">
              <a:off x="0" y="0"/>
              <a:ext cx="142875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33" name="The Margin"/>
            <p:cNvSpPr txBox="1"/>
            <p:nvPr/>
          </p:nvSpPr>
          <p:spPr>
            <a:xfrm rot="0">
              <a:off x="0" y="0"/>
              <a:ext cx="1428750" cy="152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Margin</a:t>
              </a:r>
            </a:p>
          </p:txBody>
        </p:sp>
      </p:grpSp>
      <p:grpSp>
        <p:nvGrpSpPr>
          <p:cNvPr id="37" name=""/>
          <p:cNvGrpSpPr/>
          <p:nvPr/>
        </p:nvGrpSpPr>
        <p:grpSpPr>
          <a:xfrm rot="0">
            <a:off x="9620250" y="3876675"/>
            <a:ext cx="1466850" cy="400050"/>
            <a:chOff x="0" y="0"/>
            <a:chExt cx="1466850" cy="400050"/>
          </a:xfrm>
        </p:grpSpPr>
        <p:sp>
          <p:nvSpPr>
            <p:cNvPr id="1048634" name="Rectangle"/>
            <p:cNvSpPr/>
            <p:nvPr/>
          </p:nvSpPr>
          <p:spPr>
            <a:xfrm rot="0">
              <a:off x="0" y="0"/>
              <a:ext cx="1466850" cy="4000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800">
                <a:solidFill>
                  <a:srgbClr val="D9C6B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35" name="61 seats were won below 35%."/>
            <p:cNvSpPr txBox="1"/>
            <p:nvPr/>
          </p:nvSpPr>
          <p:spPr>
            <a:xfrm rot="0">
              <a:off x="0" y="0"/>
              <a:ext cx="1466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800" lang="zh-CN">
                  <a:solidFill>
                    <a:srgbClr val="D9C6B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61 seats were won below 35%.</a:t>
              </a:r>
            </a:p>
          </p:txBody>
        </p:sp>
      </p:grpSp>
    </p:spTree>
  </p:cSld>
  <p:clrMapOvr>
    <a:masterClrMapping/>
  </p:clrMapOvr>
  <p:transition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6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37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38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39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40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640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41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41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642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43" name="02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02</a:t>
              </a:r>
            </a:p>
          </p:txBody>
        </p:sp>
      </p:grpSp>
      <p:sp>
        <p:nvSpPr>
          <p:cNvPr id="1048644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42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645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46" name="EXECUTIVE TAKEAWAYS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EXECUTIVE TAKEAWAYS</a:t>
              </a:r>
            </a:p>
          </p:txBody>
        </p:sp>
      </p:grpSp>
      <p:grpSp>
        <p:nvGrpSpPr>
          <p:cNvPr id="43" name=""/>
          <p:cNvGrpSpPr/>
          <p:nvPr/>
        </p:nvGrpSpPr>
        <p:grpSpPr>
          <a:xfrm rot="0">
            <a:off x="552450" y="704850"/>
            <a:ext cx="8096250" cy="1041400"/>
            <a:chOff x="0" y="0"/>
            <a:chExt cx="8096250" cy="1041400"/>
          </a:xfrm>
        </p:grpSpPr>
        <p:sp>
          <p:nvSpPr>
            <p:cNvPr id="1048647" name="Rectangle"/>
            <p:cNvSpPr/>
            <p:nvPr/>
          </p:nvSpPr>
          <p:spPr>
            <a:xfrm rot="0">
              <a:off x="0" y="0"/>
              <a:ext cx="809625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48" name="Leadership should frame 2026 around three marketable analytics lanes."/>
            <p:cNvSpPr txBox="1"/>
            <p:nvPr/>
          </p:nvSpPr>
          <p:spPr>
            <a:xfrm rot="0">
              <a:off x="0" y="0"/>
              <a:ext cx="809625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Leadership should frame 2026 around three marketable analytics lanes.</a:t>
              </a:r>
            </a:p>
          </p:txBody>
        </p:sp>
      </p:grpSp>
      <p:grpSp>
        <p:nvGrpSpPr>
          <p:cNvPr id="44" name=""/>
          <p:cNvGrpSpPr/>
          <p:nvPr/>
        </p:nvGrpSpPr>
        <p:grpSpPr>
          <a:xfrm rot="0">
            <a:off x="590550" y="1790700"/>
            <a:ext cx="7429500" cy="533400"/>
            <a:chOff x="0" y="0"/>
            <a:chExt cx="7429500" cy="533400"/>
          </a:xfrm>
        </p:grpSpPr>
        <p:sp>
          <p:nvSpPr>
            <p:cNvPr id="1048649" name="Rectangle"/>
            <p:cNvSpPr/>
            <p:nvPr/>
          </p:nvSpPr>
          <p:spPr>
            <a:xfrm rot="0">
              <a:off x="0" y="0"/>
              <a:ext cx="7429500" cy="533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50" name="The election has enough structural change to support premium editorial packages, constituency monitoring, and region-first coverage through the next political cycle."/>
            <p:cNvSpPr txBox="1"/>
            <p:nvPr/>
          </p:nvSpPr>
          <p:spPr>
            <a:xfrm rot="0">
              <a:off x="0" y="0"/>
              <a:ext cx="7429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election has enough structural change to support premium editorial packages, constituency monitoring, and region-first coverage through the next political cycle.</a:t>
              </a:r>
            </a:p>
          </p:txBody>
        </p:sp>
      </p:grpSp>
      <p:sp>
        <p:nvSpPr>
          <p:cNvPr id="1048651" name="Rounded Rectangle"/>
          <p:cNvSpPr/>
          <p:nvPr/>
        </p:nvSpPr>
        <p:spPr>
          <a:xfrm rot="0">
            <a:off x="590550" y="2781300"/>
            <a:ext cx="3371850" cy="2381250"/>
          </a:xfrm>
          <a:prstGeom prst="roundRect">
            <a:avLst>
              <a:gd name="adj" fmla="val 319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45" name=""/>
          <p:cNvGrpSpPr/>
          <p:nvPr/>
        </p:nvGrpSpPr>
        <p:grpSpPr>
          <a:xfrm rot="0">
            <a:off x="819150" y="3028950"/>
            <a:ext cx="1047750" cy="457200"/>
            <a:chOff x="0" y="0"/>
            <a:chExt cx="1047750" cy="457200"/>
          </a:xfrm>
        </p:grpSpPr>
        <p:sp>
          <p:nvSpPr>
            <p:cNvPr id="1048652" name="Rectangle"/>
            <p:cNvSpPr/>
            <p:nvPr/>
          </p:nvSpPr>
          <p:spPr>
            <a:xfrm rot="0">
              <a:off x="0" y="0"/>
              <a:ext cx="104775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DF815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53" name="163"/>
            <p:cNvSpPr txBox="1"/>
            <p:nvPr/>
          </p:nvSpPr>
          <p:spPr>
            <a:xfrm rot="0">
              <a:off x="0" y="0"/>
              <a:ext cx="10477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DF815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163</a:t>
              </a:r>
            </a:p>
          </p:txBody>
        </p:sp>
      </p:grpSp>
      <p:grpSp>
        <p:nvGrpSpPr>
          <p:cNvPr id="46" name=""/>
          <p:cNvGrpSpPr/>
          <p:nvPr/>
        </p:nvGrpSpPr>
        <p:grpSpPr>
          <a:xfrm rot="0">
            <a:off x="819150" y="3609975"/>
            <a:ext cx="2762250" cy="247650"/>
            <a:chOff x="0" y="0"/>
            <a:chExt cx="2762250" cy="247650"/>
          </a:xfrm>
        </p:grpSpPr>
        <p:sp>
          <p:nvSpPr>
            <p:cNvPr id="1048654" name="Rectangle"/>
            <p:cNvSpPr/>
            <p:nvPr/>
          </p:nvSpPr>
          <p:spPr>
            <a:xfrm rot="0">
              <a:off x="0" y="0"/>
              <a:ext cx="2762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3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55" name="Seat churn is the lead"/>
            <p:cNvSpPr txBox="1"/>
            <p:nvPr/>
          </p:nvSpPr>
          <p:spPr>
            <a:xfrm rot="0">
              <a:off x="0" y="0"/>
              <a:ext cx="2762250" cy="2286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3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Seat churn is the lead</a:t>
              </a:r>
            </a:p>
          </p:txBody>
        </p:sp>
      </p:grpSp>
      <p:grpSp>
        <p:nvGrpSpPr>
          <p:cNvPr id="47" name=""/>
          <p:cNvGrpSpPr/>
          <p:nvPr/>
        </p:nvGrpSpPr>
        <p:grpSpPr>
          <a:xfrm rot="0">
            <a:off x="819150" y="4010025"/>
            <a:ext cx="2762250" cy="742950"/>
            <a:chOff x="0" y="0"/>
            <a:chExt cx="2762250" cy="742950"/>
          </a:xfrm>
        </p:grpSpPr>
        <p:sp>
          <p:nvSpPr>
            <p:cNvPr id="1048656" name="Rectangle"/>
            <p:cNvSpPr/>
            <p:nvPr/>
          </p:nvSpPr>
          <p:spPr>
            <a:xfrm rot="0">
              <a:off x="0" y="0"/>
              <a:ext cx="2762250" cy="742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57" name="A 70% constituency churn rate makes the election legible as a state remapping story, not just a winner-loser story."/>
            <p:cNvSpPr txBox="1"/>
            <p:nvPr/>
          </p:nvSpPr>
          <p:spPr>
            <a:xfrm rot="0">
              <a:off x="0" y="0"/>
              <a:ext cx="2762250" cy="457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 70% constituency churn rate makes the election legible as a state remapping story, not just a winner-loser story.</a:t>
              </a:r>
            </a:p>
          </p:txBody>
        </p:sp>
      </p:grpSp>
      <p:sp>
        <p:nvSpPr>
          <p:cNvPr id="1048658" name="Rounded Rectangle"/>
          <p:cNvSpPr/>
          <p:nvPr/>
        </p:nvSpPr>
        <p:spPr>
          <a:xfrm rot="0">
            <a:off x="4324350" y="2781300"/>
            <a:ext cx="3371850" cy="2381250"/>
          </a:xfrm>
          <a:prstGeom prst="roundRect">
            <a:avLst>
              <a:gd name="adj" fmla="val 319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48" name=""/>
          <p:cNvGrpSpPr/>
          <p:nvPr/>
        </p:nvGrpSpPr>
        <p:grpSpPr>
          <a:xfrm rot="0">
            <a:off x="4552950" y="3028950"/>
            <a:ext cx="1047750" cy="457200"/>
            <a:chOff x="0" y="0"/>
            <a:chExt cx="1047750" cy="457200"/>
          </a:xfrm>
        </p:grpSpPr>
        <p:sp>
          <p:nvSpPr>
            <p:cNvPr id="1048659" name="Rectangle"/>
            <p:cNvSpPr/>
            <p:nvPr/>
          </p:nvSpPr>
          <p:spPr>
            <a:xfrm rot="0">
              <a:off x="0" y="0"/>
              <a:ext cx="104775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C95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60" name="35.1%"/>
            <p:cNvSpPr txBox="1"/>
            <p:nvPr/>
          </p:nvSpPr>
          <p:spPr>
            <a:xfrm rot="0">
              <a:off x="0" y="0"/>
              <a:ext cx="10477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C95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35.1%</a:t>
              </a:r>
            </a:p>
          </p:txBody>
        </p:sp>
      </p:grpSp>
      <p:grpSp>
        <p:nvGrpSpPr>
          <p:cNvPr id="49" name=""/>
          <p:cNvGrpSpPr/>
          <p:nvPr/>
        </p:nvGrpSpPr>
        <p:grpSpPr>
          <a:xfrm rot="0">
            <a:off x="4552950" y="3609975"/>
            <a:ext cx="2762250" cy="247650"/>
            <a:chOff x="0" y="0"/>
            <a:chExt cx="2762250" cy="247650"/>
          </a:xfrm>
        </p:grpSpPr>
        <p:sp>
          <p:nvSpPr>
            <p:cNvPr id="1048661" name="Rectangle"/>
            <p:cNvSpPr/>
            <p:nvPr/>
          </p:nvSpPr>
          <p:spPr>
            <a:xfrm rot="0">
              <a:off x="0" y="0"/>
              <a:ext cx="2762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3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62" name="Vote story needs nuance"/>
            <p:cNvSpPr txBox="1"/>
            <p:nvPr/>
          </p:nvSpPr>
          <p:spPr>
            <a:xfrm rot="0">
              <a:off x="0" y="0"/>
              <a:ext cx="2762250" cy="2286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3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Vote story needs nuance</a:t>
              </a:r>
            </a:p>
          </p:txBody>
        </p:sp>
      </p:grpSp>
      <p:grpSp>
        <p:nvGrpSpPr>
          <p:cNvPr id="50" name=""/>
          <p:cNvGrpSpPr/>
          <p:nvPr/>
        </p:nvGrpSpPr>
        <p:grpSpPr>
          <a:xfrm rot="0">
            <a:off x="4552950" y="4010025"/>
            <a:ext cx="2762250" cy="742950"/>
            <a:chOff x="0" y="0"/>
            <a:chExt cx="2762250" cy="742950"/>
          </a:xfrm>
        </p:grpSpPr>
        <p:sp>
          <p:nvSpPr>
            <p:cNvPr id="1048663" name="Rectangle"/>
            <p:cNvSpPr/>
            <p:nvPr/>
          </p:nvSpPr>
          <p:spPr>
            <a:xfrm rot="0">
              <a:off x="0" y="0"/>
              <a:ext cx="2762250" cy="742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64" name="TVK's 35.1% statewide share is large, but turnout growth means AtliQ should avoid simplistic one-source explanations."/>
            <p:cNvSpPr txBox="1"/>
            <p:nvPr/>
          </p:nvSpPr>
          <p:spPr>
            <a:xfrm rot="0">
              <a:off x="0" y="0"/>
              <a:ext cx="2762250" cy="457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TVK's 35.1% statewide share is large, but turnout growth means AtliQ should avoid simplistic one-source explanations.</a:t>
              </a:r>
            </a:p>
          </p:txBody>
        </p:sp>
      </p:grpSp>
      <p:sp>
        <p:nvSpPr>
          <p:cNvPr id="1048665" name="Rounded Rectangle"/>
          <p:cNvSpPr/>
          <p:nvPr/>
        </p:nvSpPr>
        <p:spPr>
          <a:xfrm rot="0">
            <a:off x="8058150" y="2781300"/>
            <a:ext cx="3371850" cy="2381250"/>
          </a:xfrm>
          <a:prstGeom prst="roundRect">
            <a:avLst>
              <a:gd name="adj" fmla="val 319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51" name=""/>
          <p:cNvGrpSpPr/>
          <p:nvPr/>
        </p:nvGrpSpPr>
        <p:grpSpPr>
          <a:xfrm rot="0">
            <a:off x="8286750" y="3028950"/>
            <a:ext cx="1047750" cy="457200"/>
            <a:chOff x="0" y="0"/>
            <a:chExt cx="1047750" cy="457200"/>
          </a:xfrm>
        </p:grpSpPr>
        <p:sp>
          <p:nvSpPr>
            <p:cNvPr id="1048666" name="Rectangle"/>
            <p:cNvSpPr/>
            <p:nvPr/>
          </p:nvSpPr>
          <p:spPr>
            <a:xfrm rot="0">
              <a:off x="0" y="0"/>
              <a:ext cx="104775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111827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67" name="61"/>
            <p:cNvSpPr txBox="1"/>
            <p:nvPr/>
          </p:nvSpPr>
          <p:spPr>
            <a:xfrm rot="0">
              <a:off x="0" y="0"/>
              <a:ext cx="10477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111827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61</a:t>
              </a:r>
            </a:p>
          </p:txBody>
        </p:sp>
      </p:grpSp>
      <p:grpSp>
        <p:nvGrpSpPr>
          <p:cNvPr id="52" name=""/>
          <p:cNvGrpSpPr/>
          <p:nvPr/>
        </p:nvGrpSpPr>
        <p:grpSpPr>
          <a:xfrm rot="0">
            <a:off x="8286750" y="3609975"/>
            <a:ext cx="2762250" cy="247650"/>
            <a:chOff x="0" y="0"/>
            <a:chExt cx="2762250" cy="247650"/>
          </a:xfrm>
        </p:grpSpPr>
        <p:sp>
          <p:nvSpPr>
            <p:cNvPr id="1048668" name="Rectangle"/>
            <p:cNvSpPr/>
            <p:nvPr/>
          </p:nvSpPr>
          <p:spPr>
            <a:xfrm rot="0">
              <a:off x="0" y="0"/>
              <a:ext cx="2762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3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69" name="Margins create product depth"/>
            <p:cNvSpPr txBox="1"/>
            <p:nvPr/>
          </p:nvSpPr>
          <p:spPr>
            <a:xfrm rot="0">
              <a:off x="0" y="0"/>
              <a:ext cx="2762250" cy="2286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3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Margins create product depth</a:t>
              </a:r>
            </a:p>
          </p:txBody>
        </p:sp>
      </p:grpSp>
      <p:grpSp>
        <p:nvGrpSpPr>
          <p:cNvPr id="53" name=""/>
          <p:cNvGrpSpPr/>
          <p:nvPr/>
        </p:nvGrpSpPr>
        <p:grpSpPr>
          <a:xfrm rot="0">
            <a:off x="8286750" y="4010025"/>
            <a:ext cx="2762250" cy="742950"/>
            <a:chOff x="0" y="0"/>
            <a:chExt cx="2762250" cy="742950"/>
          </a:xfrm>
        </p:grpSpPr>
        <p:sp>
          <p:nvSpPr>
            <p:cNvPr id="1048670" name="Rectangle"/>
            <p:cNvSpPr/>
            <p:nvPr/>
          </p:nvSpPr>
          <p:spPr>
            <a:xfrm rot="0">
              <a:off x="0" y="0"/>
              <a:ext cx="2762250" cy="742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71" name="The jump in thin-plurality seats creates an ongoing need for seat-level explainers and risk bands."/>
            <p:cNvSpPr txBox="1"/>
            <p:nvPr/>
          </p:nvSpPr>
          <p:spPr>
            <a:xfrm rot="0">
              <a:off x="0" y="0"/>
              <a:ext cx="2762250" cy="279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jump in thin-plurality seats creates an ongoing need for seat-level explainers and risk bands.</a:t>
              </a:r>
            </a:p>
          </p:txBody>
        </p:sp>
      </p:grpSp>
      <p:sp>
        <p:nvSpPr>
          <p:cNvPr id="1048672" name="Rounded Rectangle"/>
          <p:cNvSpPr/>
          <p:nvPr/>
        </p:nvSpPr>
        <p:spPr>
          <a:xfrm rot="0">
            <a:off x="590550" y="5562600"/>
            <a:ext cx="10610850" cy="419100"/>
          </a:xfrm>
          <a:prstGeom prst="roundRect">
            <a:avLst>
              <a:gd name="adj" fmla="val 18181"/>
            </a:avLst>
          </a:prstGeom>
          <a:solidFill>
            <a:srgbClr val="4F3829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54" name=""/>
          <p:cNvGrpSpPr/>
          <p:nvPr/>
        </p:nvGrpSpPr>
        <p:grpSpPr>
          <a:xfrm rot="0">
            <a:off x="838200" y="5695950"/>
            <a:ext cx="9906000" cy="171450"/>
            <a:chOff x="0" y="0"/>
            <a:chExt cx="9906000" cy="171450"/>
          </a:xfrm>
        </p:grpSpPr>
        <p:sp>
          <p:nvSpPr>
            <p:cNvPr id="1048673" name="Rectangle"/>
            <p:cNvSpPr/>
            <p:nvPr/>
          </p:nvSpPr>
          <p:spPr>
            <a:xfrm rot="0">
              <a:off x="0" y="0"/>
              <a:ext cx="99060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9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74" name="Decision: package the coverage as a 3-part analytics franchise: Flip Map, Vote Transfer, Margin Watch."/>
            <p:cNvSpPr txBox="1"/>
            <p:nvPr/>
          </p:nvSpPr>
          <p:spPr>
            <a:xfrm rot="0">
              <a:off x="0" y="0"/>
              <a:ext cx="9906000" cy="1397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9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Decision: package the coverage as a 3-part analytics franchise: Flip Map, Vote Transfer, Margin Watch.</a:t>
              </a:r>
            </a:p>
          </p:txBody>
        </p:sp>
      </p:grpSp>
    </p:spTree>
  </p:cSld>
  <p:clrMapOvr>
    <a:masterClrMapping/>
  </p:clrMapOvr>
  <p:transition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5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76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77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678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56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679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80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57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681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82" name="03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03</a:t>
              </a:r>
            </a:p>
          </p:txBody>
        </p:sp>
      </p:grpSp>
      <p:sp>
        <p:nvSpPr>
          <p:cNvPr id="1048683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58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684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85" name="STORY 01 / SEAT FLIP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STORY 01 / SEAT FLIP</a:t>
              </a:r>
            </a:p>
          </p:txBody>
        </p:sp>
      </p:grpSp>
      <p:grpSp>
        <p:nvGrpSpPr>
          <p:cNvPr id="59" name=""/>
          <p:cNvGrpSpPr/>
          <p:nvPr/>
        </p:nvGrpSpPr>
        <p:grpSpPr>
          <a:xfrm rot="0">
            <a:off x="552450" y="704850"/>
            <a:ext cx="7810500" cy="1041400"/>
            <a:chOff x="0" y="0"/>
            <a:chExt cx="7810500" cy="1041400"/>
          </a:xfrm>
        </p:grpSpPr>
        <p:sp>
          <p:nvSpPr>
            <p:cNvPr id="1048686" name="Rectangle"/>
            <p:cNvSpPr/>
            <p:nvPr/>
          </p:nvSpPr>
          <p:spPr>
            <a:xfrm rot="0">
              <a:off x="0" y="0"/>
              <a:ext cx="78105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687" name="The map changed at constituency scale: 163 seats flipped."/>
            <p:cNvSpPr txBox="1"/>
            <p:nvPr/>
          </p:nvSpPr>
          <p:spPr>
            <a:xfrm rot="0">
              <a:off x="0" y="0"/>
              <a:ext cx="781050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The map changed at constituency scale: 163 seats flipped.</a:t>
              </a:r>
            </a:p>
          </p:txBody>
        </p:sp>
      </p:grpSp>
      <p:grpSp>
        <p:nvGrpSpPr>
          <p:cNvPr id="60" name=""/>
          <p:cNvGrpSpPr/>
          <p:nvPr/>
        </p:nvGrpSpPr>
        <p:grpSpPr>
          <a:xfrm rot="0">
            <a:off x="609600" y="1733550"/>
            <a:ext cx="6667500" cy="457200"/>
            <a:chOff x="0" y="0"/>
            <a:chExt cx="6667500" cy="457200"/>
          </a:xfrm>
        </p:grpSpPr>
        <p:sp>
          <p:nvSpPr>
            <p:cNvPr id="1048688" name="Rectangle"/>
            <p:cNvSpPr/>
            <p:nvPr/>
          </p:nvSpPr>
          <p:spPr>
            <a:xfrm rot="0">
              <a:off x="0" y="0"/>
              <a:ext cx="66675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89" name="Seat-flow data shows where the 2026 winners came from. The largest single stream is DMK-held seats moving to TVK."/>
            <p:cNvSpPr txBox="1"/>
            <p:nvPr/>
          </p:nvSpPr>
          <p:spPr>
            <a:xfrm rot="0">
              <a:off x="0" y="0"/>
              <a:ext cx="6667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Seat-flow data shows where the 2026 winners came from. The largest single stream is DMK-held seats moving to TVK.</a:t>
              </a:r>
            </a:p>
          </p:txBody>
        </p:sp>
      </p:grpSp>
      <p:sp>
        <p:nvSpPr>
          <p:cNvPr id="1048690" name="Rounded Rectangle"/>
          <p:cNvSpPr/>
          <p:nvPr/>
        </p:nvSpPr>
        <p:spPr>
          <a:xfrm rot="0">
            <a:off x="8858250" y="781050"/>
            <a:ext cx="22860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61" name=""/>
          <p:cNvGrpSpPr/>
          <p:nvPr/>
        </p:nvGrpSpPr>
        <p:grpSpPr>
          <a:xfrm rot="0">
            <a:off x="9029700" y="933450"/>
            <a:ext cx="1962150" cy="228600"/>
            <a:chOff x="0" y="0"/>
            <a:chExt cx="1962150" cy="228600"/>
          </a:xfrm>
        </p:grpSpPr>
        <p:sp>
          <p:nvSpPr>
            <p:cNvPr id="1048691" name="Rectangle"/>
            <p:cNvSpPr/>
            <p:nvPr/>
          </p:nvSpPr>
          <p:spPr>
            <a:xfrm rot="0">
              <a:off x="0" y="0"/>
              <a:ext cx="19621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92" name="CHANGED HANDS"/>
            <p:cNvSpPr txBox="1"/>
            <p:nvPr/>
          </p:nvSpPr>
          <p:spPr>
            <a:xfrm rot="0">
              <a:off x="0" y="0"/>
              <a:ext cx="19621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CHANGED HANDS</a:t>
              </a:r>
            </a:p>
          </p:txBody>
        </p:sp>
      </p:grpSp>
      <p:grpSp>
        <p:nvGrpSpPr>
          <p:cNvPr id="62" name=""/>
          <p:cNvGrpSpPr/>
          <p:nvPr/>
        </p:nvGrpSpPr>
        <p:grpSpPr>
          <a:xfrm rot="0">
            <a:off x="9029700" y="1190625"/>
            <a:ext cx="1962150" cy="406400"/>
            <a:chOff x="0" y="0"/>
            <a:chExt cx="1962150" cy="406400"/>
          </a:xfrm>
        </p:grpSpPr>
        <p:sp>
          <p:nvSpPr>
            <p:cNvPr id="1048693" name="Rectangle"/>
            <p:cNvSpPr/>
            <p:nvPr/>
          </p:nvSpPr>
          <p:spPr>
            <a:xfrm rot="0">
              <a:off x="0" y="0"/>
              <a:ext cx="19621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DF815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94" name="163"/>
            <p:cNvSpPr txBox="1"/>
            <p:nvPr/>
          </p:nvSpPr>
          <p:spPr>
            <a:xfrm rot="0">
              <a:off x="0" y="0"/>
              <a:ext cx="19621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DF815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163</a:t>
              </a:r>
            </a:p>
          </p:txBody>
        </p:sp>
      </p:grpSp>
      <p:grpSp>
        <p:nvGrpSpPr>
          <p:cNvPr id="63" name=""/>
          <p:cNvGrpSpPr/>
          <p:nvPr/>
        </p:nvGrpSpPr>
        <p:grpSpPr>
          <a:xfrm rot="0">
            <a:off x="9029700" y="1657350"/>
            <a:ext cx="1962150" cy="133350"/>
            <a:chOff x="0" y="0"/>
            <a:chExt cx="1962150" cy="133350"/>
          </a:xfrm>
        </p:grpSpPr>
        <p:sp>
          <p:nvSpPr>
            <p:cNvPr id="1048695" name="Rectangle"/>
            <p:cNvSpPr/>
            <p:nvPr/>
          </p:nvSpPr>
          <p:spPr>
            <a:xfrm rot="0">
              <a:off x="0" y="0"/>
              <a:ext cx="19621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96" name="of 234 seats"/>
            <p:cNvSpPr txBox="1"/>
            <p:nvPr/>
          </p:nvSpPr>
          <p:spPr>
            <a:xfrm rot="0">
              <a:off x="0" y="0"/>
              <a:ext cx="19621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of 234 seats</a:t>
              </a:r>
            </a:p>
          </p:txBody>
        </p:sp>
      </p:grpSp>
      <p:sp>
        <p:nvSpPr>
          <p:cNvPr id="1048697" name="Rounded Rectangle"/>
          <p:cNvSpPr/>
          <p:nvPr/>
        </p:nvSpPr>
        <p:spPr>
          <a:xfrm rot="0">
            <a:off x="8858250" y="2000250"/>
            <a:ext cx="22860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64" name=""/>
          <p:cNvGrpSpPr/>
          <p:nvPr/>
        </p:nvGrpSpPr>
        <p:grpSpPr>
          <a:xfrm rot="0">
            <a:off x="9029700" y="2152650"/>
            <a:ext cx="1962150" cy="228600"/>
            <a:chOff x="0" y="0"/>
            <a:chExt cx="1962150" cy="228600"/>
          </a:xfrm>
        </p:grpSpPr>
        <p:sp>
          <p:nvSpPr>
            <p:cNvPr id="1048698" name="Rectangle"/>
            <p:cNvSpPr/>
            <p:nvPr/>
          </p:nvSpPr>
          <p:spPr>
            <a:xfrm rot="0">
              <a:off x="0" y="0"/>
              <a:ext cx="19621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699" name="HELD SAME PARTY"/>
            <p:cNvSpPr txBox="1"/>
            <p:nvPr/>
          </p:nvSpPr>
          <p:spPr>
            <a:xfrm rot="0">
              <a:off x="0" y="0"/>
              <a:ext cx="19621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HELD SAME PARTY</a:t>
              </a:r>
            </a:p>
          </p:txBody>
        </p:sp>
      </p:grpSp>
      <p:grpSp>
        <p:nvGrpSpPr>
          <p:cNvPr id="65" name=""/>
          <p:cNvGrpSpPr/>
          <p:nvPr/>
        </p:nvGrpSpPr>
        <p:grpSpPr>
          <a:xfrm rot="0">
            <a:off x="9029700" y="2409825"/>
            <a:ext cx="1962150" cy="406400"/>
            <a:chOff x="0" y="0"/>
            <a:chExt cx="1962150" cy="406400"/>
          </a:xfrm>
        </p:grpSpPr>
        <p:sp>
          <p:nvSpPr>
            <p:cNvPr id="1048700" name="Rectangle"/>
            <p:cNvSpPr/>
            <p:nvPr/>
          </p:nvSpPr>
          <p:spPr>
            <a:xfrm rot="0">
              <a:off x="0" y="0"/>
              <a:ext cx="19621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01" name="71"/>
            <p:cNvSpPr txBox="1"/>
            <p:nvPr/>
          </p:nvSpPr>
          <p:spPr>
            <a:xfrm rot="0">
              <a:off x="0" y="0"/>
              <a:ext cx="19621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71</a:t>
              </a:r>
            </a:p>
          </p:txBody>
        </p:sp>
      </p:grpSp>
      <p:grpSp>
        <p:nvGrpSpPr>
          <p:cNvPr id="66" name=""/>
          <p:cNvGrpSpPr/>
          <p:nvPr/>
        </p:nvGrpSpPr>
        <p:grpSpPr>
          <a:xfrm rot="0">
            <a:off x="9029700" y="2876550"/>
            <a:ext cx="1962150" cy="133350"/>
            <a:chOff x="0" y="0"/>
            <a:chExt cx="1962150" cy="133350"/>
          </a:xfrm>
        </p:grpSpPr>
        <p:sp>
          <p:nvSpPr>
            <p:cNvPr id="1048702" name="Rectangle"/>
            <p:cNvSpPr/>
            <p:nvPr/>
          </p:nvSpPr>
          <p:spPr>
            <a:xfrm rot="0">
              <a:off x="0" y="0"/>
              <a:ext cx="19621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03" name="continuity seats"/>
            <p:cNvSpPr txBox="1"/>
            <p:nvPr/>
          </p:nvSpPr>
          <p:spPr>
            <a:xfrm rot="0">
              <a:off x="0" y="0"/>
              <a:ext cx="19621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continuity seats</a:t>
              </a:r>
            </a:p>
          </p:txBody>
        </p:sp>
      </p:grpSp>
      <p:sp>
        <p:nvSpPr>
          <p:cNvPr id="1048704" name="Rounded Rectangle"/>
          <p:cNvSpPr/>
          <p:nvPr/>
        </p:nvSpPr>
        <p:spPr>
          <a:xfrm rot="0">
            <a:off x="666750" y="2705100"/>
            <a:ext cx="7905750" cy="2952750"/>
          </a:xfrm>
          <a:prstGeom prst="roundRect">
            <a:avLst>
              <a:gd name="adj" fmla="val 257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67" name=""/>
          <p:cNvGrpSpPr/>
          <p:nvPr/>
        </p:nvGrpSpPr>
        <p:grpSpPr>
          <a:xfrm rot="0">
            <a:off x="971550" y="3200400"/>
            <a:ext cx="781050" cy="171450"/>
            <a:chOff x="0" y="0"/>
            <a:chExt cx="781050" cy="171450"/>
          </a:xfrm>
        </p:grpSpPr>
        <p:sp>
          <p:nvSpPr>
            <p:cNvPr id="1048705" name="Rectangle"/>
            <p:cNvSpPr/>
            <p:nvPr/>
          </p:nvSpPr>
          <p:spPr>
            <a:xfrm rot="0">
              <a:off x="0" y="0"/>
              <a:ext cx="7810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06" name="DMK"/>
            <p:cNvSpPr txBox="1"/>
            <p:nvPr/>
          </p:nvSpPr>
          <p:spPr>
            <a:xfrm rot="0">
              <a:off x="0" y="0"/>
              <a:ext cx="7810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sp>
        <p:nvSpPr>
          <p:cNvPr id="1048707" name="Rounded Rectangle"/>
          <p:cNvSpPr/>
          <p:nvPr/>
        </p:nvSpPr>
        <p:spPr>
          <a:xfrm rot="0">
            <a:off x="1866900" y="32575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C95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68" name=""/>
          <p:cNvGrpSpPr/>
          <p:nvPr/>
        </p:nvGrpSpPr>
        <p:grpSpPr>
          <a:xfrm rot="0">
            <a:off x="971550" y="3600450"/>
            <a:ext cx="781050" cy="171450"/>
            <a:chOff x="0" y="0"/>
            <a:chExt cx="781050" cy="171450"/>
          </a:xfrm>
        </p:grpSpPr>
        <p:sp>
          <p:nvSpPr>
            <p:cNvPr id="1048708" name="Rectangle"/>
            <p:cNvSpPr/>
            <p:nvPr/>
          </p:nvSpPr>
          <p:spPr>
            <a:xfrm rot="0">
              <a:off x="0" y="0"/>
              <a:ext cx="7810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09" name="AIADMK"/>
            <p:cNvSpPr txBox="1"/>
            <p:nvPr/>
          </p:nvSpPr>
          <p:spPr>
            <a:xfrm rot="0">
              <a:off x="0" y="0"/>
              <a:ext cx="7810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sp>
        <p:nvSpPr>
          <p:cNvPr id="1048710" name="Rounded Rectangle"/>
          <p:cNvSpPr/>
          <p:nvPr/>
        </p:nvSpPr>
        <p:spPr>
          <a:xfrm rot="0">
            <a:off x="1866900" y="36576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3E7B6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69" name=""/>
          <p:cNvGrpSpPr/>
          <p:nvPr/>
        </p:nvGrpSpPr>
        <p:grpSpPr>
          <a:xfrm rot="0">
            <a:off x="971550" y="4000500"/>
            <a:ext cx="781050" cy="171450"/>
            <a:chOff x="0" y="0"/>
            <a:chExt cx="781050" cy="171450"/>
          </a:xfrm>
        </p:grpSpPr>
        <p:sp>
          <p:nvSpPr>
            <p:cNvPr id="1048711" name="Rectangle"/>
            <p:cNvSpPr/>
            <p:nvPr/>
          </p:nvSpPr>
          <p:spPr>
            <a:xfrm rot="0">
              <a:off x="0" y="0"/>
              <a:ext cx="7810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12" name="INC"/>
            <p:cNvSpPr txBox="1"/>
            <p:nvPr/>
          </p:nvSpPr>
          <p:spPr>
            <a:xfrm rot="0">
              <a:off x="0" y="0"/>
              <a:ext cx="7810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INC</a:t>
              </a:r>
            </a:p>
          </p:txBody>
        </p:sp>
      </p:grpSp>
      <p:sp>
        <p:nvSpPr>
          <p:cNvPr id="1048713" name="Rounded Rectangle"/>
          <p:cNvSpPr/>
          <p:nvPr/>
        </p:nvSpPr>
        <p:spPr>
          <a:xfrm rot="0">
            <a:off x="1866900" y="40576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4E78A8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0" name=""/>
          <p:cNvGrpSpPr/>
          <p:nvPr/>
        </p:nvGrpSpPr>
        <p:grpSpPr>
          <a:xfrm rot="0">
            <a:off x="971550" y="4400550"/>
            <a:ext cx="781050" cy="171450"/>
            <a:chOff x="0" y="0"/>
            <a:chExt cx="781050" cy="171450"/>
          </a:xfrm>
        </p:grpSpPr>
        <p:sp>
          <p:nvSpPr>
            <p:cNvPr id="1048714" name="Rectangle"/>
            <p:cNvSpPr/>
            <p:nvPr/>
          </p:nvSpPr>
          <p:spPr>
            <a:xfrm rot="0">
              <a:off x="0" y="0"/>
              <a:ext cx="7810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15" name="PMK"/>
            <p:cNvSpPr txBox="1"/>
            <p:nvPr/>
          </p:nvSpPr>
          <p:spPr>
            <a:xfrm rot="0">
              <a:off x="0" y="0"/>
              <a:ext cx="7810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PMK</a:t>
              </a:r>
            </a:p>
          </p:txBody>
        </p:sp>
      </p:grpSp>
      <p:sp>
        <p:nvSpPr>
          <p:cNvPr id="1048716" name="Rounded Rectangle"/>
          <p:cNvSpPr/>
          <p:nvPr/>
        </p:nvSpPr>
        <p:spPr>
          <a:xfrm rot="0">
            <a:off x="1866900" y="44577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9A7D9A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1" name=""/>
          <p:cNvGrpSpPr/>
          <p:nvPr/>
        </p:nvGrpSpPr>
        <p:grpSpPr>
          <a:xfrm rot="0">
            <a:off x="971550" y="4800600"/>
            <a:ext cx="781050" cy="171450"/>
            <a:chOff x="0" y="0"/>
            <a:chExt cx="781050" cy="171450"/>
          </a:xfrm>
        </p:grpSpPr>
        <p:sp>
          <p:nvSpPr>
            <p:cNvPr id="1048717" name="Rectangle"/>
            <p:cNvSpPr/>
            <p:nvPr/>
          </p:nvSpPr>
          <p:spPr>
            <a:xfrm rot="0">
              <a:off x="0" y="0"/>
              <a:ext cx="7810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18" name="Others"/>
            <p:cNvSpPr txBox="1"/>
            <p:nvPr/>
          </p:nvSpPr>
          <p:spPr>
            <a:xfrm rot="0">
              <a:off x="0" y="0"/>
              <a:ext cx="7810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Others</a:t>
              </a:r>
            </a:p>
          </p:txBody>
        </p:sp>
      </p:grpSp>
      <p:sp>
        <p:nvSpPr>
          <p:cNvPr id="1048719" name="Rounded Rectangle"/>
          <p:cNvSpPr/>
          <p:nvPr/>
        </p:nvSpPr>
        <p:spPr>
          <a:xfrm rot="0">
            <a:off x="1866900" y="48577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2" name=""/>
          <p:cNvGrpSpPr/>
          <p:nvPr/>
        </p:nvGrpSpPr>
        <p:grpSpPr>
          <a:xfrm rot="0">
            <a:off x="7429500" y="3105150"/>
            <a:ext cx="704850" cy="171450"/>
            <a:chOff x="0" y="0"/>
            <a:chExt cx="704850" cy="171450"/>
          </a:xfrm>
        </p:grpSpPr>
        <p:sp>
          <p:nvSpPr>
            <p:cNvPr id="1048720" name="Rectangle"/>
            <p:cNvSpPr/>
            <p:nvPr/>
          </p:nvSpPr>
          <p:spPr>
            <a:xfrm rot="0">
              <a:off x="0" y="0"/>
              <a:ext cx="7048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21" name="TVK"/>
            <p:cNvSpPr txBox="1"/>
            <p:nvPr/>
          </p:nvSpPr>
          <p:spPr>
            <a:xfrm rot="0">
              <a:off x="0" y="0"/>
              <a:ext cx="704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sp>
        <p:nvSpPr>
          <p:cNvPr id="1048722" name="Rounded Rectangle"/>
          <p:cNvSpPr/>
          <p:nvPr/>
        </p:nvSpPr>
        <p:spPr>
          <a:xfrm rot="0">
            <a:off x="7124700" y="31623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DF815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3" name=""/>
          <p:cNvGrpSpPr/>
          <p:nvPr/>
        </p:nvGrpSpPr>
        <p:grpSpPr>
          <a:xfrm rot="0">
            <a:off x="7429500" y="3571875"/>
            <a:ext cx="704850" cy="171450"/>
            <a:chOff x="0" y="0"/>
            <a:chExt cx="704850" cy="171450"/>
          </a:xfrm>
        </p:grpSpPr>
        <p:sp>
          <p:nvSpPr>
            <p:cNvPr id="1048723" name="Rectangle"/>
            <p:cNvSpPr/>
            <p:nvPr/>
          </p:nvSpPr>
          <p:spPr>
            <a:xfrm rot="0">
              <a:off x="0" y="0"/>
              <a:ext cx="7048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24" name="DMK"/>
            <p:cNvSpPr txBox="1"/>
            <p:nvPr/>
          </p:nvSpPr>
          <p:spPr>
            <a:xfrm rot="0">
              <a:off x="0" y="0"/>
              <a:ext cx="704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sp>
        <p:nvSpPr>
          <p:cNvPr id="1048725" name="Rounded Rectangle"/>
          <p:cNvSpPr/>
          <p:nvPr/>
        </p:nvSpPr>
        <p:spPr>
          <a:xfrm rot="0">
            <a:off x="7124700" y="362902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C95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4" name=""/>
          <p:cNvGrpSpPr/>
          <p:nvPr/>
        </p:nvGrpSpPr>
        <p:grpSpPr>
          <a:xfrm rot="0">
            <a:off x="7429500" y="4038600"/>
            <a:ext cx="704850" cy="171450"/>
            <a:chOff x="0" y="0"/>
            <a:chExt cx="704850" cy="171450"/>
          </a:xfrm>
        </p:grpSpPr>
        <p:sp>
          <p:nvSpPr>
            <p:cNvPr id="1048726" name="Rectangle"/>
            <p:cNvSpPr/>
            <p:nvPr/>
          </p:nvSpPr>
          <p:spPr>
            <a:xfrm rot="0">
              <a:off x="0" y="0"/>
              <a:ext cx="7048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27" name="AIADMK"/>
            <p:cNvSpPr txBox="1"/>
            <p:nvPr/>
          </p:nvSpPr>
          <p:spPr>
            <a:xfrm rot="0">
              <a:off x="0" y="0"/>
              <a:ext cx="704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sp>
        <p:nvSpPr>
          <p:cNvPr id="1048728" name="Rounded Rectangle"/>
          <p:cNvSpPr/>
          <p:nvPr/>
        </p:nvSpPr>
        <p:spPr>
          <a:xfrm rot="0">
            <a:off x="7124700" y="409575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3E7B6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5" name=""/>
          <p:cNvGrpSpPr/>
          <p:nvPr/>
        </p:nvGrpSpPr>
        <p:grpSpPr>
          <a:xfrm rot="0">
            <a:off x="7429500" y="4505325"/>
            <a:ext cx="704850" cy="171450"/>
            <a:chOff x="0" y="0"/>
            <a:chExt cx="704850" cy="171450"/>
          </a:xfrm>
        </p:grpSpPr>
        <p:sp>
          <p:nvSpPr>
            <p:cNvPr id="1048729" name="Rectangle"/>
            <p:cNvSpPr/>
            <p:nvPr/>
          </p:nvSpPr>
          <p:spPr>
            <a:xfrm rot="0">
              <a:off x="0" y="0"/>
              <a:ext cx="7048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30" name="INC"/>
            <p:cNvSpPr txBox="1"/>
            <p:nvPr/>
          </p:nvSpPr>
          <p:spPr>
            <a:xfrm rot="0">
              <a:off x="0" y="0"/>
              <a:ext cx="704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INC</a:t>
              </a:r>
            </a:p>
          </p:txBody>
        </p:sp>
      </p:grpSp>
      <p:sp>
        <p:nvSpPr>
          <p:cNvPr id="1048731" name="Rounded Rectangle"/>
          <p:cNvSpPr/>
          <p:nvPr/>
        </p:nvSpPr>
        <p:spPr>
          <a:xfrm rot="0">
            <a:off x="7124700" y="4562475"/>
            <a:ext cx="171450" cy="76200"/>
          </a:xfrm>
          <a:prstGeom prst="roundRect">
            <a:avLst>
              <a:gd name="adj" fmla="val 50000"/>
            </a:avLst>
          </a:prstGeom>
          <a:solidFill>
            <a:srgbClr val="4E78A8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6" name=""/>
          <p:cNvGrpSpPr/>
          <p:nvPr/>
        </p:nvGrpSpPr>
        <p:grpSpPr>
          <a:xfrm rot="0">
            <a:off x="7429500" y="4972050"/>
            <a:ext cx="704850" cy="171450"/>
            <a:chOff x="0" y="0"/>
            <a:chExt cx="704850" cy="171450"/>
          </a:xfrm>
        </p:grpSpPr>
        <p:sp>
          <p:nvSpPr>
            <p:cNvPr id="1048732" name="Rectangle"/>
            <p:cNvSpPr/>
            <p:nvPr/>
          </p:nvSpPr>
          <p:spPr>
            <a:xfrm rot="0">
              <a:off x="0" y="0"/>
              <a:ext cx="7048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33" name="Others"/>
            <p:cNvSpPr txBox="1"/>
            <p:nvPr/>
          </p:nvSpPr>
          <p:spPr>
            <a:xfrm rot="0">
              <a:off x="0" y="0"/>
              <a:ext cx="7048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Others</a:t>
              </a:r>
            </a:p>
          </p:txBody>
        </p:sp>
      </p:grpSp>
      <p:sp>
        <p:nvSpPr>
          <p:cNvPr id="1048734" name="Rounded Rectangle"/>
          <p:cNvSpPr/>
          <p:nvPr/>
        </p:nvSpPr>
        <p:spPr>
          <a:xfrm rot="0">
            <a:off x="7124700" y="5029200"/>
            <a:ext cx="171450" cy="76200"/>
          </a:xfrm>
          <a:prstGeom prst="roundRect">
            <a:avLst>
              <a:gd name="adj" fmla="val 50000"/>
            </a:avLst>
          </a:prstGeom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35" name="Rectangle"/>
          <p:cNvSpPr/>
          <p:nvPr/>
        </p:nvSpPr>
        <p:spPr>
          <a:xfrm rot="0">
            <a:off x="2038350" y="3257550"/>
            <a:ext cx="5086350" cy="155575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36" name="Rectangle"/>
          <p:cNvSpPr/>
          <p:nvPr/>
        </p:nvSpPr>
        <p:spPr>
          <a:xfrm rot="0">
            <a:off x="2038350" y="3648075"/>
            <a:ext cx="5086350" cy="95250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37" name="Rectangle"/>
          <p:cNvSpPr/>
          <p:nvPr/>
        </p:nvSpPr>
        <p:spPr>
          <a:xfrm rot="0">
            <a:off x="2038350" y="3657600"/>
            <a:ext cx="5086350" cy="52387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38" name="Rectangle"/>
          <p:cNvSpPr/>
          <p:nvPr/>
        </p:nvSpPr>
        <p:spPr>
          <a:xfrm rot="0">
            <a:off x="2038350" y="3667125"/>
            <a:ext cx="5086350" cy="61912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39" name="Rectangle"/>
          <p:cNvSpPr/>
          <p:nvPr/>
        </p:nvSpPr>
        <p:spPr>
          <a:xfrm rot="0">
            <a:off x="2038350" y="4067175"/>
            <a:ext cx="5086350" cy="52387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40" name="Rectangle"/>
          <p:cNvSpPr/>
          <p:nvPr/>
        </p:nvSpPr>
        <p:spPr>
          <a:xfrm rot="0">
            <a:off x="2038350" y="4467225"/>
            <a:ext cx="5086350" cy="28575"/>
          </a:xfrm>
          <a:prstGeom prst="rect"/>
          <a:solidFill>
            <a:srgbClr val="4E78A8"/>
          </a:solidFill>
          <a:ln w="3175" cap="flat" cmpd="sng">
            <a:solidFill>
              <a:srgbClr val="4E78A8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7" name=""/>
          <p:cNvGrpSpPr/>
          <p:nvPr/>
        </p:nvGrpSpPr>
        <p:grpSpPr>
          <a:xfrm rot="0">
            <a:off x="971550" y="2895600"/>
            <a:ext cx="1524000" cy="171450"/>
            <a:chOff x="0" y="0"/>
            <a:chExt cx="1524000" cy="171450"/>
          </a:xfrm>
        </p:grpSpPr>
        <p:sp>
          <p:nvSpPr>
            <p:cNvPr id="1048741" name="Rectangle"/>
            <p:cNvSpPr/>
            <p:nvPr/>
          </p:nvSpPr>
          <p:spPr>
            <a:xfrm rot="0">
              <a:off x="0" y="0"/>
              <a:ext cx="15240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42" name="2021 WINNERS"/>
            <p:cNvSpPr txBox="1"/>
            <p:nvPr/>
          </p:nvSpPr>
          <p:spPr>
            <a:xfrm rot="0">
              <a:off x="0" y="0"/>
              <a:ext cx="1524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2021 WINNERS</a:t>
              </a:r>
            </a:p>
          </p:txBody>
        </p:sp>
      </p:grpSp>
      <p:grpSp>
        <p:nvGrpSpPr>
          <p:cNvPr id="78" name=""/>
          <p:cNvGrpSpPr/>
          <p:nvPr/>
        </p:nvGrpSpPr>
        <p:grpSpPr>
          <a:xfrm rot="0">
            <a:off x="6724650" y="2895600"/>
            <a:ext cx="1524000" cy="171450"/>
            <a:chOff x="0" y="0"/>
            <a:chExt cx="1524000" cy="171450"/>
          </a:xfrm>
        </p:grpSpPr>
        <p:sp>
          <p:nvSpPr>
            <p:cNvPr id="1048743" name="Rectangle"/>
            <p:cNvSpPr/>
            <p:nvPr/>
          </p:nvSpPr>
          <p:spPr>
            <a:xfrm rot="0">
              <a:off x="0" y="0"/>
              <a:ext cx="15240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44" name="2026 WINNERS"/>
            <p:cNvSpPr txBox="1"/>
            <p:nvPr/>
          </p:nvSpPr>
          <p:spPr>
            <a:xfrm rot="0">
              <a:off x="0" y="0"/>
              <a:ext cx="1524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2026 WINNERS</a:t>
              </a:r>
            </a:p>
          </p:txBody>
        </p:sp>
      </p:grpSp>
      <p:sp>
        <p:nvSpPr>
          <p:cNvPr id="1048745" name="Rounded Rectangle"/>
          <p:cNvSpPr/>
          <p:nvPr/>
        </p:nvSpPr>
        <p:spPr>
          <a:xfrm rot="0">
            <a:off x="8858250" y="3429000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7EFE5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79" name=""/>
          <p:cNvGrpSpPr/>
          <p:nvPr/>
        </p:nvGrpSpPr>
        <p:grpSpPr>
          <a:xfrm rot="0">
            <a:off x="9086850" y="3676650"/>
            <a:ext cx="1752600" cy="704850"/>
            <a:chOff x="0" y="0"/>
            <a:chExt cx="1752600" cy="704850"/>
          </a:xfrm>
        </p:grpSpPr>
        <p:sp>
          <p:nvSpPr>
            <p:cNvPr id="1048746" name="Rectangle"/>
            <p:cNvSpPr/>
            <p:nvPr/>
          </p:nvSpPr>
          <p:spPr>
            <a:xfrm rot="0">
              <a:off x="0" y="0"/>
              <a:ext cx="1752600" cy="7048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4F3829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747" name="The largest transfer was 65 seats from DMK-held constituencies to TVK."/>
            <p:cNvSpPr txBox="1"/>
            <p:nvPr/>
          </p:nvSpPr>
          <p:spPr>
            <a:xfrm rot="0">
              <a:off x="0" y="0"/>
              <a:ext cx="1752600" cy="4953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4F3829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The largest transfer was 65 seats from DMK-held constituencies to TVK.</a:t>
              </a:r>
            </a:p>
          </p:txBody>
        </p:sp>
      </p:grpSp>
    </p:spTree>
  </p:cSld>
  <p:clrMapOvr>
    <a:masterClrMapping/>
  </p:clrMapOvr>
  <p:transition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8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49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50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51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1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752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53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82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754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55" name="04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04</a:t>
              </a:r>
            </a:p>
          </p:txBody>
        </p:sp>
      </p:grpSp>
      <p:sp>
        <p:nvSpPr>
          <p:cNvPr id="1048756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3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757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58" name="REGIONAL VIEW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REGIONAL VIEW</a:t>
              </a:r>
            </a:p>
          </p:txBody>
        </p:sp>
      </p:grpSp>
      <p:grpSp>
        <p:nvGrpSpPr>
          <p:cNvPr id="84" name=""/>
          <p:cNvGrpSpPr/>
          <p:nvPr/>
        </p:nvGrpSpPr>
        <p:grpSpPr>
          <a:xfrm rot="0">
            <a:off x="552450" y="704850"/>
            <a:ext cx="7620000" cy="1041400"/>
            <a:chOff x="0" y="0"/>
            <a:chExt cx="7620000" cy="1041400"/>
          </a:xfrm>
        </p:grpSpPr>
        <p:sp>
          <p:nvSpPr>
            <p:cNvPr id="1048759" name="Rectangle"/>
            <p:cNvSpPr/>
            <p:nvPr/>
          </p:nvSpPr>
          <p:spPr>
            <a:xfrm rot="0">
              <a:off x="0" y="0"/>
              <a:ext cx="76200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760" name="The shift was broad, but not uniform across regions."/>
            <p:cNvSpPr txBox="1"/>
            <p:nvPr/>
          </p:nvSpPr>
          <p:spPr>
            <a:xfrm rot="0">
              <a:off x="0" y="0"/>
              <a:ext cx="762000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The shift was broad, but not uniform across regions.</a:t>
              </a:r>
            </a:p>
          </p:txBody>
        </p:sp>
      </p:grpSp>
      <p:grpSp>
        <p:nvGrpSpPr>
          <p:cNvPr id="85" name=""/>
          <p:cNvGrpSpPr/>
          <p:nvPr/>
        </p:nvGrpSpPr>
        <p:grpSpPr>
          <a:xfrm rot="0">
            <a:off x="609600" y="1695450"/>
            <a:ext cx="6667500" cy="457200"/>
            <a:chOff x="0" y="0"/>
            <a:chExt cx="6667500" cy="457200"/>
          </a:xfrm>
        </p:grpSpPr>
        <p:sp>
          <p:nvSpPr>
            <p:cNvPr id="1048761" name="Rectangle"/>
            <p:cNvSpPr/>
            <p:nvPr/>
          </p:nvSpPr>
          <p:spPr>
            <a:xfrm rot="0">
              <a:off x="0" y="0"/>
              <a:ext cx="66675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62" name="Chennai Metro becomes a decisive TVK cluster, South is high volume, and Central remains the most fragmented battleground."/>
            <p:cNvSpPr txBox="1"/>
            <p:nvPr/>
          </p:nvSpPr>
          <p:spPr>
            <a:xfrm rot="0">
              <a:off x="0" y="0"/>
              <a:ext cx="6667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Chennai Metro becomes a decisive TVK cluster, South is high volume, and Central remains the most fragmented battleground.</a:t>
              </a:r>
            </a:p>
          </p:txBody>
        </p:sp>
      </p:grpSp>
      <p:sp>
        <p:nvSpPr>
          <p:cNvPr id="1048763" name="Rounded Rectangle"/>
          <p:cNvSpPr/>
          <p:nvPr/>
        </p:nvSpPr>
        <p:spPr>
          <a:xfrm rot="0">
            <a:off x="666750" y="2476500"/>
            <a:ext cx="8096250" cy="3143250"/>
          </a:xfrm>
          <a:prstGeom prst="roundRect">
            <a:avLst>
              <a:gd name="adj" fmla="val 2426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64" name="Rectangle"/>
          <p:cNvSpPr/>
          <p:nvPr/>
        </p:nvSpPr>
        <p:spPr>
          <a:xfrm rot="0">
            <a:off x="952500" y="4932362"/>
            <a:ext cx="6667500" cy="12700"/>
          </a:xfrm>
          <a:prstGeom prst="rect"/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6" name=""/>
          <p:cNvGrpSpPr/>
          <p:nvPr/>
        </p:nvGrpSpPr>
        <p:grpSpPr>
          <a:xfrm rot="0">
            <a:off x="590550" y="4857750"/>
            <a:ext cx="304800" cy="133350"/>
            <a:chOff x="0" y="0"/>
            <a:chExt cx="304800" cy="133350"/>
          </a:xfrm>
        </p:grpSpPr>
        <p:sp>
          <p:nvSpPr>
            <p:cNvPr id="1048765" name="Rectangle"/>
            <p:cNvSpPr/>
            <p:nvPr/>
          </p:nvSpPr>
          <p:spPr>
            <a:xfrm rot="0">
              <a:off x="0" y="0"/>
              <a:ext cx="3048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66" name="0"/>
            <p:cNvSpPr txBox="1"/>
            <p:nvPr/>
          </p:nvSpPr>
          <p:spPr>
            <a:xfrm rot="0">
              <a:off x="0" y="0"/>
              <a:ext cx="3048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</a:t>
              </a:r>
            </a:p>
          </p:txBody>
        </p:sp>
      </p:grpSp>
      <p:sp>
        <p:nvSpPr>
          <p:cNvPr id="1048767" name="Rectangle"/>
          <p:cNvSpPr/>
          <p:nvPr/>
        </p:nvSpPr>
        <p:spPr>
          <a:xfrm rot="0">
            <a:off x="952500" y="4432300"/>
            <a:ext cx="6667500" cy="12700"/>
          </a:xfrm>
          <a:prstGeom prst="rect"/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7" name=""/>
          <p:cNvGrpSpPr/>
          <p:nvPr/>
        </p:nvGrpSpPr>
        <p:grpSpPr>
          <a:xfrm rot="0">
            <a:off x="590550" y="4357687"/>
            <a:ext cx="304800" cy="133350"/>
            <a:chOff x="0" y="0"/>
            <a:chExt cx="304800" cy="133350"/>
          </a:xfrm>
        </p:grpSpPr>
        <p:sp>
          <p:nvSpPr>
            <p:cNvPr id="1048768" name="Rectangle"/>
            <p:cNvSpPr/>
            <p:nvPr/>
          </p:nvSpPr>
          <p:spPr>
            <a:xfrm rot="0">
              <a:off x="0" y="0"/>
              <a:ext cx="3048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69" name="15"/>
            <p:cNvSpPr txBox="1"/>
            <p:nvPr/>
          </p:nvSpPr>
          <p:spPr>
            <a:xfrm rot="0">
              <a:off x="0" y="0"/>
              <a:ext cx="3048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15</a:t>
              </a:r>
            </a:p>
          </p:txBody>
        </p:sp>
      </p:grpSp>
      <p:sp>
        <p:nvSpPr>
          <p:cNvPr id="1048770" name="Rectangle"/>
          <p:cNvSpPr/>
          <p:nvPr/>
        </p:nvSpPr>
        <p:spPr>
          <a:xfrm rot="0">
            <a:off x="952500" y="3932237"/>
            <a:ext cx="6667500" cy="12700"/>
          </a:xfrm>
          <a:prstGeom prst="rect"/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8" name=""/>
          <p:cNvGrpSpPr/>
          <p:nvPr/>
        </p:nvGrpSpPr>
        <p:grpSpPr>
          <a:xfrm rot="0">
            <a:off x="590550" y="3857625"/>
            <a:ext cx="304800" cy="133350"/>
            <a:chOff x="0" y="0"/>
            <a:chExt cx="304800" cy="133350"/>
          </a:xfrm>
        </p:grpSpPr>
        <p:sp>
          <p:nvSpPr>
            <p:cNvPr id="1048771" name="Rectangle"/>
            <p:cNvSpPr/>
            <p:nvPr/>
          </p:nvSpPr>
          <p:spPr>
            <a:xfrm rot="0">
              <a:off x="0" y="0"/>
              <a:ext cx="3048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72" name="30"/>
            <p:cNvSpPr txBox="1"/>
            <p:nvPr/>
          </p:nvSpPr>
          <p:spPr>
            <a:xfrm rot="0">
              <a:off x="0" y="0"/>
              <a:ext cx="3048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30</a:t>
              </a:r>
            </a:p>
          </p:txBody>
        </p:sp>
      </p:grpSp>
      <p:sp>
        <p:nvSpPr>
          <p:cNvPr id="1048773" name="Rectangle"/>
          <p:cNvSpPr/>
          <p:nvPr/>
        </p:nvSpPr>
        <p:spPr>
          <a:xfrm rot="0">
            <a:off x="952500" y="3432175"/>
            <a:ext cx="6667500" cy="12700"/>
          </a:xfrm>
          <a:prstGeom prst="rect"/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89" name=""/>
          <p:cNvGrpSpPr/>
          <p:nvPr/>
        </p:nvGrpSpPr>
        <p:grpSpPr>
          <a:xfrm rot="0">
            <a:off x="590550" y="3357562"/>
            <a:ext cx="304800" cy="133350"/>
            <a:chOff x="0" y="0"/>
            <a:chExt cx="304800" cy="133350"/>
          </a:xfrm>
        </p:grpSpPr>
        <p:sp>
          <p:nvSpPr>
            <p:cNvPr id="1048774" name="Rectangle"/>
            <p:cNvSpPr/>
            <p:nvPr/>
          </p:nvSpPr>
          <p:spPr>
            <a:xfrm rot="0">
              <a:off x="0" y="0"/>
              <a:ext cx="3048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75" name="45"/>
            <p:cNvSpPr txBox="1"/>
            <p:nvPr/>
          </p:nvSpPr>
          <p:spPr>
            <a:xfrm rot="0">
              <a:off x="0" y="0"/>
              <a:ext cx="3048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45</a:t>
              </a:r>
            </a:p>
          </p:txBody>
        </p:sp>
      </p:grpSp>
      <p:sp>
        <p:nvSpPr>
          <p:cNvPr id="1048776" name="Rectangle"/>
          <p:cNvSpPr/>
          <p:nvPr/>
        </p:nvSpPr>
        <p:spPr>
          <a:xfrm rot="0">
            <a:off x="952500" y="2932112"/>
            <a:ext cx="6667500" cy="12700"/>
          </a:xfrm>
          <a:prstGeom prst="rect"/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0" name=""/>
          <p:cNvGrpSpPr/>
          <p:nvPr/>
        </p:nvGrpSpPr>
        <p:grpSpPr>
          <a:xfrm rot="0">
            <a:off x="590550" y="2857500"/>
            <a:ext cx="304800" cy="133350"/>
            <a:chOff x="0" y="0"/>
            <a:chExt cx="304800" cy="133350"/>
          </a:xfrm>
        </p:grpSpPr>
        <p:sp>
          <p:nvSpPr>
            <p:cNvPr id="1048777" name="Rectangle"/>
            <p:cNvSpPr/>
            <p:nvPr/>
          </p:nvSpPr>
          <p:spPr>
            <a:xfrm rot="0">
              <a:off x="0" y="0"/>
              <a:ext cx="3048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78" name="60"/>
            <p:cNvSpPr txBox="1"/>
            <p:nvPr/>
          </p:nvSpPr>
          <p:spPr>
            <a:xfrm rot="0">
              <a:off x="0" y="0"/>
              <a:ext cx="3048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60</a:t>
              </a:r>
            </a:p>
          </p:txBody>
        </p:sp>
      </p:grpSp>
      <p:sp>
        <p:nvSpPr>
          <p:cNvPr id="1048779" name="Rectangle"/>
          <p:cNvSpPr/>
          <p:nvPr/>
        </p:nvSpPr>
        <p:spPr>
          <a:xfrm rot="0">
            <a:off x="1066800" y="3967162"/>
            <a:ext cx="781050" cy="966787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80" name="Rectangle"/>
          <p:cNvSpPr/>
          <p:nvPr/>
        </p:nvSpPr>
        <p:spPr>
          <a:xfrm rot="0">
            <a:off x="1066800" y="3900487"/>
            <a:ext cx="781050" cy="66675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81" name="Rectangle"/>
          <p:cNvSpPr/>
          <p:nvPr/>
        </p:nvSpPr>
        <p:spPr>
          <a:xfrm rot="0">
            <a:off x="1066800" y="3867150"/>
            <a:ext cx="781050" cy="33337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1" name=""/>
          <p:cNvGrpSpPr/>
          <p:nvPr/>
        </p:nvGrpSpPr>
        <p:grpSpPr>
          <a:xfrm rot="0">
            <a:off x="990600" y="5067300"/>
            <a:ext cx="933450" cy="152400"/>
            <a:chOff x="0" y="0"/>
            <a:chExt cx="933450" cy="152400"/>
          </a:xfrm>
        </p:grpSpPr>
        <p:sp>
          <p:nvSpPr>
            <p:cNvPr id="1048782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83" name="Chennai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Chennai</a:t>
              </a:r>
            </a:p>
          </p:txBody>
        </p:sp>
      </p:grpSp>
      <p:grpSp>
        <p:nvGrpSpPr>
          <p:cNvPr id="92" name=""/>
          <p:cNvGrpSpPr/>
          <p:nvPr/>
        </p:nvGrpSpPr>
        <p:grpSpPr>
          <a:xfrm rot="0">
            <a:off x="990600" y="5238750"/>
            <a:ext cx="933450" cy="152400"/>
            <a:chOff x="0" y="0"/>
            <a:chExt cx="933450" cy="152400"/>
          </a:xfrm>
        </p:grpSpPr>
        <p:sp>
          <p:nvSpPr>
            <p:cNvPr id="1048784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85" name="32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32 seats</a:t>
              </a:r>
            </a:p>
          </p:txBody>
        </p:sp>
      </p:grpSp>
      <p:sp>
        <p:nvSpPr>
          <p:cNvPr id="1048786" name="Rectangle"/>
          <p:cNvSpPr/>
          <p:nvPr/>
        </p:nvSpPr>
        <p:spPr>
          <a:xfrm rot="0">
            <a:off x="2114550" y="4433887"/>
            <a:ext cx="781050" cy="500062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87" name="Rectangle"/>
          <p:cNvSpPr/>
          <p:nvPr/>
        </p:nvSpPr>
        <p:spPr>
          <a:xfrm rot="0">
            <a:off x="2114550" y="3933825"/>
            <a:ext cx="781050" cy="500062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88" name="Rectangle"/>
          <p:cNvSpPr/>
          <p:nvPr/>
        </p:nvSpPr>
        <p:spPr>
          <a:xfrm rot="0">
            <a:off x="2114550" y="3800475"/>
            <a:ext cx="781050" cy="133350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89" name="Rectangle"/>
          <p:cNvSpPr/>
          <p:nvPr/>
        </p:nvSpPr>
        <p:spPr>
          <a:xfrm rot="0">
            <a:off x="2114550" y="3767137"/>
            <a:ext cx="781050" cy="33337"/>
          </a:xfrm>
          <a:prstGeom prst="rect"/>
          <a:solidFill>
            <a:srgbClr val="9A7D9A"/>
          </a:solidFill>
          <a:ln w="3175" cap="flat" cmpd="sng">
            <a:solidFill>
              <a:srgbClr val="9A7D9A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90" name="Rectangle"/>
          <p:cNvSpPr/>
          <p:nvPr/>
        </p:nvSpPr>
        <p:spPr>
          <a:xfrm rot="0">
            <a:off x="2114550" y="3733800"/>
            <a:ext cx="781050" cy="33337"/>
          </a:xfrm>
          <a:prstGeom prst="rect"/>
          <a:solidFill>
            <a:srgbClr val="AB5C54"/>
          </a:solidFill>
          <a:ln w="3175" cap="flat" cmpd="sng">
            <a:solidFill>
              <a:srgbClr val="AB5C54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91" name="Rectangle"/>
          <p:cNvSpPr/>
          <p:nvPr/>
        </p:nvSpPr>
        <p:spPr>
          <a:xfrm rot="0">
            <a:off x="2114550" y="3700462"/>
            <a:ext cx="781050" cy="33337"/>
          </a:xfrm>
          <a:prstGeom prst="rect"/>
          <a:solidFill>
            <a:srgbClr val="6A9B73"/>
          </a:solidFill>
          <a:ln w="3175" cap="flat" cmpd="sng">
            <a:solidFill>
              <a:srgbClr val="6A9B73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3" name=""/>
          <p:cNvGrpSpPr/>
          <p:nvPr/>
        </p:nvGrpSpPr>
        <p:grpSpPr>
          <a:xfrm rot="0">
            <a:off x="2038350" y="5067300"/>
            <a:ext cx="933450" cy="152400"/>
            <a:chOff x="0" y="0"/>
            <a:chExt cx="933450" cy="152400"/>
          </a:xfrm>
        </p:grpSpPr>
        <p:sp>
          <p:nvSpPr>
            <p:cNvPr id="1048792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93" name="North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North</a:t>
              </a:r>
            </a:p>
          </p:txBody>
        </p:sp>
      </p:grpSp>
      <p:grpSp>
        <p:nvGrpSpPr>
          <p:cNvPr id="94" name=""/>
          <p:cNvGrpSpPr/>
          <p:nvPr/>
        </p:nvGrpSpPr>
        <p:grpSpPr>
          <a:xfrm rot="0">
            <a:off x="2038350" y="5238750"/>
            <a:ext cx="933450" cy="152400"/>
            <a:chOff x="0" y="0"/>
            <a:chExt cx="933450" cy="152400"/>
          </a:xfrm>
        </p:grpSpPr>
        <p:sp>
          <p:nvSpPr>
            <p:cNvPr id="1048794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795" name="37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37 seats</a:t>
              </a:r>
            </a:p>
          </p:txBody>
        </p:sp>
      </p:grpSp>
      <p:sp>
        <p:nvSpPr>
          <p:cNvPr id="1048796" name="Rectangle"/>
          <p:cNvSpPr/>
          <p:nvPr/>
        </p:nvSpPr>
        <p:spPr>
          <a:xfrm rot="0">
            <a:off x="3162300" y="4433887"/>
            <a:ext cx="781050" cy="500062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97" name="Rectangle"/>
          <p:cNvSpPr/>
          <p:nvPr/>
        </p:nvSpPr>
        <p:spPr>
          <a:xfrm rot="0">
            <a:off x="3162300" y="4033837"/>
            <a:ext cx="781050" cy="400050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98" name="Rectangle"/>
          <p:cNvSpPr/>
          <p:nvPr/>
        </p:nvSpPr>
        <p:spPr>
          <a:xfrm rot="0">
            <a:off x="3162300" y="3767137"/>
            <a:ext cx="781050" cy="266700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799" name="Rectangle"/>
          <p:cNvSpPr/>
          <p:nvPr/>
        </p:nvSpPr>
        <p:spPr>
          <a:xfrm rot="0">
            <a:off x="3162300" y="3667125"/>
            <a:ext cx="781050" cy="100012"/>
          </a:xfrm>
          <a:prstGeom prst="rect"/>
          <a:solidFill>
            <a:srgbClr val="9A7D9A"/>
          </a:solidFill>
          <a:ln w="3175" cap="flat" cmpd="sng">
            <a:solidFill>
              <a:srgbClr val="9A7D9A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00" name="Rectangle"/>
          <p:cNvSpPr/>
          <p:nvPr/>
        </p:nvSpPr>
        <p:spPr>
          <a:xfrm rot="0">
            <a:off x="3162300" y="3600450"/>
            <a:ext cx="781050" cy="66675"/>
          </a:xfrm>
          <a:prstGeom prst="rect"/>
          <a:solidFill>
            <a:srgbClr val="616489"/>
          </a:solidFill>
          <a:ln w="3175" cap="flat" cmpd="sng">
            <a:solidFill>
              <a:srgbClr val="616489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01" name="Rectangle"/>
          <p:cNvSpPr/>
          <p:nvPr/>
        </p:nvSpPr>
        <p:spPr>
          <a:xfrm rot="0">
            <a:off x="3162300" y="3567112"/>
            <a:ext cx="781050" cy="33337"/>
          </a:xfrm>
          <a:prstGeom prst="rect"/>
          <a:solidFill>
            <a:srgbClr val="8D8A83"/>
          </a:solidFill>
          <a:ln w="3175" cap="flat" cmpd="sng">
            <a:solidFill>
              <a:srgbClr val="8D8A83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5" name=""/>
          <p:cNvGrpSpPr/>
          <p:nvPr/>
        </p:nvGrpSpPr>
        <p:grpSpPr>
          <a:xfrm rot="0">
            <a:off x="3086100" y="5067300"/>
            <a:ext cx="933450" cy="152400"/>
            <a:chOff x="0" y="0"/>
            <a:chExt cx="933450" cy="152400"/>
          </a:xfrm>
        </p:grpSpPr>
        <p:sp>
          <p:nvSpPr>
            <p:cNvPr id="1048802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03" name="Central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Central</a:t>
              </a:r>
            </a:p>
          </p:txBody>
        </p:sp>
      </p:grpSp>
      <p:grpSp>
        <p:nvGrpSpPr>
          <p:cNvPr id="96" name=""/>
          <p:cNvGrpSpPr/>
          <p:nvPr/>
        </p:nvGrpSpPr>
        <p:grpSpPr>
          <a:xfrm rot="0">
            <a:off x="3086100" y="5238750"/>
            <a:ext cx="933450" cy="152400"/>
            <a:chOff x="0" y="0"/>
            <a:chExt cx="933450" cy="152400"/>
          </a:xfrm>
        </p:grpSpPr>
        <p:sp>
          <p:nvSpPr>
            <p:cNvPr id="1048804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05" name="41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41 seats</a:t>
              </a:r>
            </a:p>
          </p:txBody>
        </p:sp>
      </p:grpSp>
      <p:sp>
        <p:nvSpPr>
          <p:cNvPr id="1048806" name="Rectangle"/>
          <p:cNvSpPr/>
          <p:nvPr/>
        </p:nvSpPr>
        <p:spPr>
          <a:xfrm rot="0">
            <a:off x="4210050" y="4400550"/>
            <a:ext cx="781050" cy="533400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07" name="Rectangle"/>
          <p:cNvSpPr/>
          <p:nvPr/>
        </p:nvSpPr>
        <p:spPr>
          <a:xfrm rot="0">
            <a:off x="4210050" y="4100512"/>
            <a:ext cx="781050" cy="300037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08" name="Rectangle"/>
          <p:cNvSpPr/>
          <p:nvPr/>
        </p:nvSpPr>
        <p:spPr>
          <a:xfrm rot="0">
            <a:off x="4210050" y="3867150"/>
            <a:ext cx="781050" cy="233362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09" name="Rectangle"/>
          <p:cNvSpPr/>
          <p:nvPr/>
        </p:nvSpPr>
        <p:spPr>
          <a:xfrm rot="0">
            <a:off x="4210050" y="3833812"/>
            <a:ext cx="781050" cy="33337"/>
          </a:xfrm>
          <a:prstGeom prst="rect"/>
          <a:solidFill>
            <a:srgbClr val="BA8A48"/>
          </a:solidFill>
          <a:ln w="3175" cap="flat" cmpd="sng">
            <a:solidFill>
              <a:srgbClr val="BA8A48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7" name=""/>
          <p:cNvGrpSpPr/>
          <p:nvPr/>
        </p:nvGrpSpPr>
        <p:grpSpPr>
          <a:xfrm rot="0">
            <a:off x="4133850" y="5067300"/>
            <a:ext cx="933450" cy="152400"/>
            <a:chOff x="0" y="0"/>
            <a:chExt cx="933450" cy="152400"/>
          </a:xfrm>
        </p:grpSpPr>
        <p:sp>
          <p:nvSpPr>
            <p:cNvPr id="1048810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11" name="Kongu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Kongu</a:t>
              </a:r>
            </a:p>
          </p:txBody>
        </p:sp>
      </p:grpSp>
      <p:grpSp>
        <p:nvGrpSpPr>
          <p:cNvPr id="98" name=""/>
          <p:cNvGrpSpPr/>
          <p:nvPr/>
        </p:nvGrpSpPr>
        <p:grpSpPr>
          <a:xfrm rot="0">
            <a:off x="4133850" y="5238750"/>
            <a:ext cx="933450" cy="152400"/>
            <a:chOff x="0" y="0"/>
            <a:chExt cx="933450" cy="152400"/>
          </a:xfrm>
        </p:grpSpPr>
        <p:sp>
          <p:nvSpPr>
            <p:cNvPr id="1048812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13" name="33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33 seats</a:t>
              </a:r>
            </a:p>
          </p:txBody>
        </p:sp>
      </p:grpSp>
      <p:sp>
        <p:nvSpPr>
          <p:cNvPr id="1048814" name="Rectangle"/>
          <p:cNvSpPr/>
          <p:nvPr/>
        </p:nvSpPr>
        <p:spPr>
          <a:xfrm rot="0">
            <a:off x="5257800" y="4467225"/>
            <a:ext cx="781050" cy="466725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15" name="Rectangle"/>
          <p:cNvSpPr/>
          <p:nvPr/>
        </p:nvSpPr>
        <p:spPr>
          <a:xfrm rot="0">
            <a:off x="5257800" y="4133850"/>
            <a:ext cx="781050" cy="333375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16" name="Rectangle"/>
          <p:cNvSpPr/>
          <p:nvPr/>
        </p:nvSpPr>
        <p:spPr>
          <a:xfrm rot="0">
            <a:off x="5257800" y="4000500"/>
            <a:ext cx="781050" cy="133350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17" name="Rectangle"/>
          <p:cNvSpPr/>
          <p:nvPr/>
        </p:nvSpPr>
        <p:spPr>
          <a:xfrm rot="0">
            <a:off x="5257800" y="3967162"/>
            <a:ext cx="781050" cy="33337"/>
          </a:xfrm>
          <a:prstGeom prst="rect"/>
          <a:solidFill>
            <a:srgbClr val="8D4A44"/>
          </a:solidFill>
          <a:ln w="3175" cap="flat" cmpd="sng">
            <a:solidFill>
              <a:srgbClr val="8D4A44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18" name="Rectangle"/>
          <p:cNvSpPr/>
          <p:nvPr/>
        </p:nvSpPr>
        <p:spPr>
          <a:xfrm rot="0">
            <a:off x="5257800" y="3933825"/>
            <a:ext cx="781050" cy="33337"/>
          </a:xfrm>
          <a:prstGeom prst="rect"/>
          <a:solidFill>
            <a:srgbClr val="5B917F"/>
          </a:solidFill>
          <a:ln w="3175" cap="flat" cmpd="sng">
            <a:solidFill>
              <a:srgbClr val="5B917F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19" name="Rectangle"/>
          <p:cNvSpPr/>
          <p:nvPr/>
        </p:nvSpPr>
        <p:spPr>
          <a:xfrm rot="0">
            <a:off x="5257800" y="3900487"/>
            <a:ext cx="781050" cy="33337"/>
          </a:xfrm>
          <a:prstGeom prst="rect"/>
          <a:solidFill>
            <a:srgbClr val="4E78A8"/>
          </a:solidFill>
          <a:ln w="3175" cap="flat" cmpd="sng">
            <a:solidFill>
              <a:srgbClr val="4E78A8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20" name="Rectangle"/>
          <p:cNvSpPr/>
          <p:nvPr/>
        </p:nvSpPr>
        <p:spPr>
          <a:xfrm rot="0">
            <a:off x="5257800" y="3867150"/>
            <a:ext cx="781050" cy="33337"/>
          </a:xfrm>
          <a:prstGeom prst="rect"/>
          <a:solidFill>
            <a:srgbClr val="6A9B73"/>
          </a:solidFill>
          <a:ln w="3175" cap="flat" cmpd="sng">
            <a:solidFill>
              <a:srgbClr val="6A9B73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21" name="Rectangle"/>
          <p:cNvSpPr/>
          <p:nvPr/>
        </p:nvSpPr>
        <p:spPr>
          <a:xfrm rot="0">
            <a:off x="5257800" y="3833812"/>
            <a:ext cx="781050" cy="33337"/>
          </a:xfrm>
          <a:prstGeom prst="rect"/>
          <a:solidFill>
            <a:srgbClr val="AB5C54"/>
          </a:solidFill>
          <a:ln w="3175" cap="flat" cmpd="sng">
            <a:solidFill>
              <a:srgbClr val="AB5C54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99" name=""/>
          <p:cNvGrpSpPr/>
          <p:nvPr/>
        </p:nvGrpSpPr>
        <p:grpSpPr>
          <a:xfrm rot="0">
            <a:off x="5181600" y="5067300"/>
            <a:ext cx="933450" cy="152400"/>
            <a:chOff x="0" y="0"/>
            <a:chExt cx="933450" cy="152400"/>
          </a:xfrm>
        </p:grpSpPr>
        <p:sp>
          <p:nvSpPr>
            <p:cNvPr id="1048822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23" name="Delta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Delta</a:t>
              </a:r>
            </a:p>
          </p:txBody>
        </p:sp>
      </p:grpSp>
      <p:grpSp>
        <p:nvGrpSpPr>
          <p:cNvPr id="100" name=""/>
          <p:cNvGrpSpPr/>
          <p:nvPr/>
        </p:nvGrpSpPr>
        <p:grpSpPr>
          <a:xfrm rot="0">
            <a:off x="5181600" y="5238750"/>
            <a:ext cx="933450" cy="152400"/>
            <a:chOff x="0" y="0"/>
            <a:chExt cx="933450" cy="152400"/>
          </a:xfrm>
        </p:grpSpPr>
        <p:sp>
          <p:nvSpPr>
            <p:cNvPr id="1048824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25" name="33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33 seats</a:t>
              </a:r>
            </a:p>
          </p:txBody>
        </p:sp>
      </p:grpSp>
      <p:sp>
        <p:nvSpPr>
          <p:cNvPr id="1048826" name="Rectangle"/>
          <p:cNvSpPr/>
          <p:nvPr/>
        </p:nvSpPr>
        <p:spPr>
          <a:xfrm rot="0">
            <a:off x="6305550" y="4067175"/>
            <a:ext cx="781050" cy="866775"/>
          </a:xfrm>
          <a:prstGeom prst="rect"/>
          <a:solidFill>
            <a:srgbClr val="DF8155"/>
          </a:solidFill>
          <a:ln w="3175" cap="flat" cmpd="sng">
            <a:solidFill>
              <a:srgbClr val="DF8155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27" name="Rectangle"/>
          <p:cNvSpPr/>
          <p:nvPr/>
        </p:nvSpPr>
        <p:spPr>
          <a:xfrm rot="0">
            <a:off x="6305550" y="3333750"/>
            <a:ext cx="781050" cy="733425"/>
          </a:xfrm>
          <a:prstGeom prst="rect"/>
          <a:solidFill>
            <a:srgbClr val="C9584D"/>
          </a:solidFill>
          <a:ln w="3175" cap="flat" cmpd="sng">
            <a:solidFill>
              <a:srgbClr val="C9584D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28" name="Rectangle"/>
          <p:cNvSpPr/>
          <p:nvPr/>
        </p:nvSpPr>
        <p:spPr>
          <a:xfrm rot="0">
            <a:off x="6305550" y="3167062"/>
            <a:ext cx="781050" cy="166687"/>
          </a:xfrm>
          <a:prstGeom prst="rect"/>
          <a:solidFill>
            <a:srgbClr val="3E7B62"/>
          </a:solidFill>
          <a:ln w="3175" cap="flat" cmpd="sng">
            <a:solidFill>
              <a:srgbClr val="3E7B6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29" name="Rectangle"/>
          <p:cNvSpPr/>
          <p:nvPr/>
        </p:nvSpPr>
        <p:spPr>
          <a:xfrm rot="0">
            <a:off x="6305550" y="3033712"/>
            <a:ext cx="781050" cy="133350"/>
          </a:xfrm>
          <a:prstGeom prst="rect"/>
          <a:solidFill>
            <a:srgbClr val="4E78A8"/>
          </a:solidFill>
          <a:ln w="3175" cap="flat" cmpd="sng">
            <a:solidFill>
              <a:srgbClr val="4E78A8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30" name="Rectangle"/>
          <p:cNvSpPr/>
          <p:nvPr/>
        </p:nvSpPr>
        <p:spPr>
          <a:xfrm rot="0">
            <a:off x="6305550" y="3000375"/>
            <a:ext cx="781050" cy="33337"/>
          </a:xfrm>
          <a:prstGeom prst="rect"/>
          <a:solidFill>
            <a:srgbClr val="8D4A44"/>
          </a:solidFill>
          <a:ln w="3175" cap="flat" cmpd="sng">
            <a:solidFill>
              <a:srgbClr val="8D4A44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1" name=""/>
          <p:cNvGrpSpPr/>
          <p:nvPr/>
        </p:nvGrpSpPr>
        <p:grpSpPr>
          <a:xfrm rot="0">
            <a:off x="6229350" y="5067300"/>
            <a:ext cx="933450" cy="152400"/>
            <a:chOff x="0" y="0"/>
            <a:chExt cx="933450" cy="152400"/>
          </a:xfrm>
        </p:grpSpPr>
        <p:sp>
          <p:nvSpPr>
            <p:cNvPr id="1048831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32" name="South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South</a:t>
              </a:r>
            </a:p>
          </p:txBody>
        </p:sp>
      </p:grpSp>
      <p:grpSp>
        <p:nvGrpSpPr>
          <p:cNvPr id="102" name=""/>
          <p:cNvGrpSpPr/>
          <p:nvPr/>
        </p:nvGrpSpPr>
        <p:grpSpPr>
          <a:xfrm rot="0">
            <a:off x="6229350" y="5238750"/>
            <a:ext cx="933450" cy="152400"/>
            <a:chOff x="0" y="0"/>
            <a:chExt cx="933450" cy="152400"/>
          </a:xfrm>
        </p:grpSpPr>
        <p:sp>
          <p:nvSpPr>
            <p:cNvPr id="1048833" name="Rectangle"/>
            <p:cNvSpPr/>
            <p:nvPr/>
          </p:nvSpPr>
          <p:spPr>
            <a:xfrm rot="0">
              <a:off x="0" y="0"/>
              <a:ext cx="9334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34" name="58 seats"/>
            <p:cNvSpPr txBox="1"/>
            <p:nvPr/>
          </p:nvSpPr>
          <p:spPr>
            <a:xfrm rot="0">
              <a:off x="0" y="0"/>
              <a:ext cx="9334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58 seats</a:t>
              </a:r>
            </a:p>
          </p:txBody>
        </p:sp>
      </p:grpSp>
      <p:sp>
        <p:nvSpPr>
          <p:cNvPr id="1048835" name="Rounded Rectangle"/>
          <p:cNvSpPr/>
          <p:nvPr/>
        </p:nvSpPr>
        <p:spPr>
          <a:xfrm rot="0">
            <a:off x="9124950" y="2476500"/>
            <a:ext cx="2095500" cy="2114550"/>
          </a:xfrm>
          <a:prstGeom prst="roundRect">
            <a:avLst>
              <a:gd name="adj" fmla="val 3634"/>
            </a:avLst>
          </a:prstGeom>
          <a:solidFill>
            <a:srgbClr val="2F241E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3" name=""/>
          <p:cNvGrpSpPr/>
          <p:nvPr/>
        </p:nvGrpSpPr>
        <p:grpSpPr>
          <a:xfrm rot="0">
            <a:off x="9353550" y="2762250"/>
            <a:ext cx="1619250" cy="228600"/>
            <a:chOff x="0" y="0"/>
            <a:chExt cx="1619250" cy="228600"/>
          </a:xfrm>
        </p:grpSpPr>
        <p:sp>
          <p:nvSpPr>
            <p:cNvPr id="1048836" name="Rectangle"/>
            <p:cNvSpPr/>
            <p:nvPr/>
          </p:nvSpPr>
          <p:spPr>
            <a:xfrm rot="0">
              <a:off x="0" y="0"/>
              <a:ext cx="1619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D8B88E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37" name="WHERE TO FOCUS"/>
            <p:cNvSpPr txBox="1"/>
            <p:nvPr/>
          </p:nvSpPr>
          <p:spPr>
            <a:xfrm rot="0">
              <a:off x="0" y="0"/>
              <a:ext cx="1619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D8B88E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WHERE TO FOCUS</a:t>
              </a:r>
            </a:p>
          </p:txBody>
        </p:sp>
      </p:grpSp>
      <p:grpSp>
        <p:nvGrpSpPr>
          <p:cNvPr id="104" name=""/>
          <p:cNvGrpSpPr/>
          <p:nvPr/>
        </p:nvGrpSpPr>
        <p:grpSpPr>
          <a:xfrm rot="0">
            <a:off x="9353550" y="3105150"/>
            <a:ext cx="1524000" cy="704850"/>
            <a:chOff x="0" y="0"/>
            <a:chExt cx="1524000" cy="704850"/>
          </a:xfrm>
        </p:grpSpPr>
        <p:sp>
          <p:nvSpPr>
            <p:cNvPr id="1048838" name="Rectangle"/>
            <p:cNvSpPr/>
            <p:nvPr/>
          </p:nvSpPr>
          <p:spPr>
            <a:xfrm rot="0">
              <a:off x="0" y="0"/>
              <a:ext cx="1524000" cy="7048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100">
                <a:solidFill>
                  <a:srgbClr val="FFFFFF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839" name="Region-first storytelling beats a single statewide average."/>
            <p:cNvSpPr txBox="1"/>
            <p:nvPr/>
          </p:nvSpPr>
          <p:spPr>
            <a:xfrm rot="0">
              <a:off x="0" y="0"/>
              <a:ext cx="1524000" cy="533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100" lang="zh-CN">
                  <a:solidFill>
                    <a:srgbClr val="FFFFFF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Region-first storytelling beats a single statewide average.</a:t>
              </a:r>
            </a:p>
          </p:txBody>
        </p:sp>
      </p:grpSp>
      <p:grpSp>
        <p:nvGrpSpPr>
          <p:cNvPr id="105" name=""/>
          <p:cNvGrpSpPr/>
          <p:nvPr/>
        </p:nvGrpSpPr>
        <p:grpSpPr>
          <a:xfrm rot="0">
            <a:off x="9353550" y="3905250"/>
            <a:ext cx="1562100" cy="457200"/>
            <a:chOff x="0" y="0"/>
            <a:chExt cx="1562100" cy="457200"/>
          </a:xfrm>
        </p:grpSpPr>
        <p:sp>
          <p:nvSpPr>
            <p:cNvPr id="1048840" name="Rectangle"/>
            <p:cNvSpPr/>
            <p:nvPr/>
          </p:nvSpPr>
          <p:spPr>
            <a:xfrm rot="0">
              <a:off x="0" y="0"/>
              <a:ext cx="15621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D9C6B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41" name="Use local stakes: urban sweep, fragmented middle belt, high-volume southern shifts."/>
            <p:cNvSpPr txBox="1"/>
            <p:nvPr/>
          </p:nvSpPr>
          <p:spPr>
            <a:xfrm rot="0">
              <a:off x="0" y="0"/>
              <a:ext cx="1562100" cy="3429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D9C6B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Use local stakes: urban sweep, fragmented middle belt, high-volume southern shifts.</a:t>
              </a:r>
            </a:p>
          </p:txBody>
        </p:sp>
      </p:grpSp>
      <p:sp>
        <p:nvSpPr>
          <p:cNvPr id="1048842" name="Circle"/>
          <p:cNvSpPr/>
          <p:nvPr/>
        </p:nvSpPr>
        <p:spPr>
          <a:xfrm rot="0">
            <a:off x="9124950" y="4905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F815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6" name=""/>
          <p:cNvGrpSpPr/>
          <p:nvPr/>
        </p:nvGrpSpPr>
        <p:grpSpPr>
          <a:xfrm rot="0">
            <a:off x="9277350" y="4857750"/>
            <a:ext cx="857250" cy="190500"/>
            <a:chOff x="0" y="0"/>
            <a:chExt cx="857250" cy="190500"/>
          </a:xfrm>
        </p:grpSpPr>
        <p:sp>
          <p:nvSpPr>
            <p:cNvPr id="1048843" name="Rectangle"/>
            <p:cNvSpPr/>
            <p:nvPr/>
          </p:nvSpPr>
          <p:spPr>
            <a:xfrm rot="0">
              <a:off x="0" y="0"/>
              <a:ext cx="85725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44" name="TVK"/>
            <p:cNvSpPr txBox="1"/>
            <p:nvPr/>
          </p:nvSpPr>
          <p:spPr>
            <a:xfrm rot="0">
              <a:off x="0" y="0"/>
              <a:ext cx="857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sp>
        <p:nvSpPr>
          <p:cNvPr id="1048845" name="Circle"/>
          <p:cNvSpPr/>
          <p:nvPr/>
        </p:nvSpPr>
        <p:spPr>
          <a:xfrm rot="0">
            <a:off x="10096500" y="4905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C95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7" name=""/>
          <p:cNvGrpSpPr/>
          <p:nvPr/>
        </p:nvGrpSpPr>
        <p:grpSpPr>
          <a:xfrm rot="0">
            <a:off x="10248900" y="4857750"/>
            <a:ext cx="857250" cy="190500"/>
            <a:chOff x="0" y="0"/>
            <a:chExt cx="857250" cy="190500"/>
          </a:xfrm>
        </p:grpSpPr>
        <p:sp>
          <p:nvSpPr>
            <p:cNvPr id="1048846" name="Rectangle"/>
            <p:cNvSpPr/>
            <p:nvPr/>
          </p:nvSpPr>
          <p:spPr>
            <a:xfrm rot="0">
              <a:off x="0" y="0"/>
              <a:ext cx="85725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47" name="DMK"/>
            <p:cNvSpPr txBox="1"/>
            <p:nvPr/>
          </p:nvSpPr>
          <p:spPr>
            <a:xfrm rot="0">
              <a:off x="0" y="0"/>
              <a:ext cx="857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sp>
        <p:nvSpPr>
          <p:cNvPr id="1048848" name="Circle"/>
          <p:cNvSpPr/>
          <p:nvPr/>
        </p:nvSpPr>
        <p:spPr>
          <a:xfrm rot="0">
            <a:off x="9124950" y="5191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E7B6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8" name=""/>
          <p:cNvGrpSpPr/>
          <p:nvPr/>
        </p:nvGrpSpPr>
        <p:grpSpPr>
          <a:xfrm rot="0">
            <a:off x="9277350" y="5143500"/>
            <a:ext cx="857250" cy="190500"/>
            <a:chOff x="0" y="0"/>
            <a:chExt cx="857250" cy="190500"/>
          </a:xfrm>
        </p:grpSpPr>
        <p:sp>
          <p:nvSpPr>
            <p:cNvPr id="1048849" name="Rectangle"/>
            <p:cNvSpPr/>
            <p:nvPr/>
          </p:nvSpPr>
          <p:spPr>
            <a:xfrm rot="0">
              <a:off x="0" y="0"/>
              <a:ext cx="85725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50" name="AIADMK"/>
            <p:cNvSpPr txBox="1"/>
            <p:nvPr/>
          </p:nvSpPr>
          <p:spPr>
            <a:xfrm rot="0">
              <a:off x="0" y="0"/>
              <a:ext cx="857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sp>
        <p:nvSpPr>
          <p:cNvPr id="1048851" name="Circle"/>
          <p:cNvSpPr/>
          <p:nvPr/>
        </p:nvSpPr>
        <p:spPr>
          <a:xfrm rot="0">
            <a:off x="10058400" y="5191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E78A8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09" name=""/>
          <p:cNvGrpSpPr/>
          <p:nvPr/>
        </p:nvGrpSpPr>
        <p:grpSpPr>
          <a:xfrm rot="0">
            <a:off x="10210800" y="5143500"/>
            <a:ext cx="857250" cy="190500"/>
            <a:chOff x="0" y="0"/>
            <a:chExt cx="857250" cy="190500"/>
          </a:xfrm>
        </p:grpSpPr>
        <p:sp>
          <p:nvSpPr>
            <p:cNvPr id="1048852" name="Rectangle"/>
            <p:cNvSpPr/>
            <p:nvPr/>
          </p:nvSpPr>
          <p:spPr>
            <a:xfrm rot="0">
              <a:off x="0" y="0"/>
              <a:ext cx="85725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53" name="INC"/>
            <p:cNvSpPr txBox="1"/>
            <p:nvPr/>
          </p:nvSpPr>
          <p:spPr>
            <a:xfrm rot="0">
              <a:off x="0" y="0"/>
              <a:ext cx="857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INC</a:t>
              </a:r>
            </a:p>
          </p:txBody>
        </p:sp>
      </p:grpSp>
    </p:spTree>
  </p:cSld>
  <p:clrMapOvr>
    <a:masterClrMapping/>
  </p:clrMapOvr>
  <p:transition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4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55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56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57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11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858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59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112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860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61" name="05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05</a:t>
              </a:r>
            </a:p>
          </p:txBody>
        </p:sp>
      </p:grpSp>
      <p:sp>
        <p:nvSpPr>
          <p:cNvPr id="1048862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13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863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64" name="STORY 02 / VOTE SHARE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STORY 02 / VOTE SHARE</a:t>
              </a:r>
            </a:p>
          </p:txBody>
        </p:sp>
      </p:grpSp>
      <p:grpSp>
        <p:nvGrpSpPr>
          <p:cNvPr id="114" name=""/>
          <p:cNvGrpSpPr/>
          <p:nvPr/>
        </p:nvGrpSpPr>
        <p:grpSpPr>
          <a:xfrm rot="0">
            <a:off x="552450" y="704850"/>
            <a:ext cx="8572500" cy="990600"/>
            <a:chOff x="0" y="0"/>
            <a:chExt cx="8572500" cy="990600"/>
          </a:xfrm>
        </p:grpSpPr>
        <p:sp>
          <p:nvSpPr>
            <p:cNvPr id="1048865" name="Rectangle"/>
            <p:cNvSpPr/>
            <p:nvPr/>
          </p:nvSpPr>
          <p:spPr>
            <a:xfrm rot="0">
              <a:off x="0" y="0"/>
              <a:ext cx="85725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0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866" name="TVK reached DMK-2021 scale, but the source story needs discipline."/>
            <p:cNvSpPr txBox="1"/>
            <p:nvPr/>
          </p:nvSpPr>
          <p:spPr>
            <a:xfrm rot="0">
              <a:off x="0" y="0"/>
              <a:ext cx="8572500" cy="9906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0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TVK reached DMK-2021 scale, but the source story needs discipline.</a:t>
              </a:r>
            </a:p>
          </p:txBody>
        </p:sp>
      </p:grpSp>
      <p:grpSp>
        <p:nvGrpSpPr>
          <p:cNvPr id="115" name=""/>
          <p:cNvGrpSpPr/>
          <p:nvPr/>
        </p:nvGrpSpPr>
        <p:grpSpPr>
          <a:xfrm rot="0">
            <a:off x="609600" y="1695450"/>
            <a:ext cx="7048500" cy="476250"/>
            <a:chOff x="0" y="0"/>
            <a:chExt cx="7048500" cy="476250"/>
          </a:xfrm>
        </p:grpSpPr>
        <p:sp>
          <p:nvSpPr>
            <p:cNvPr id="1048867" name="Rectangle"/>
            <p:cNvSpPr/>
            <p:nvPr/>
          </p:nvSpPr>
          <p:spPr>
            <a:xfrm rot="0">
              <a:off x="0" y="0"/>
              <a:ext cx="7048500" cy="4762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68" name="The headline is not only transfer. The vote pool expanded, so AtliQ's coverage should separate vote movement from new participation."/>
            <p:cNvSpPr txBox="1"/>
            <p:nvPr/>
          </p:nvSpPr>
          <p:spPr>
            <a:xfrm rot="0">
              <a:off x="0" y="0"/>
              <a:ext cx="7048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headline is not only transfer. The vote pool expanded, so AtliQ's coverage should separate vote movement from new participation.</a:t>
              </a:r>
            </a:p>
          </p:txBody>
        </p:sp>
      </p:grpSp>
      <p:sp>
        <p:nvSpPr>
          <p:cNvPr id="1048869" name="Rounded Rectangle"/>
          <p:cNvSpPr/>
          <p:nvPr/>
        </p:nvSpPr>
        <p:spPr>
          <a:xfrm rot="0">
            <a:off x="666750" y="2571750"/>
            <a:ext cx="4953000" cy="2476500"/>
          </a:xfrm>
          <a:prstGeom prst="roundRect">
            <a:avLst>
              <a:gd name="adj" fmla="val 307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16" name=""/>
          <p:cNvGrpSpPr/>
          <p:nvPr/>
        </p:nvGrpSpPr>
        <p:grpSpPr>
          <a:xfrm rot="0">
            <a:off x="914400" y="2800350"/>
            <a:ext cx="2857500" cy="209550"/>
            <a:chOff x="0" y="0"/>
            <a:chExt cx="2857500" cy="209550"/>
          </a:xfrm>
        </p:grpSpPr>
        <p:sp>
          <p:nvSpPr>
            <p:cNvPr id="1048870" name="Rectangle"/>
            <p:cNvSpPr/>
            <p:nvPr/>
          </p:nvSpPr>
          <p:spPr>
            <a:xfrm rot="0">
              <a:off x="0" y="0"/>
              <a:ext cx="28575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71" name="2021 STATEWIDE VOTE SHARE"/>
            <p:cNvSpPr txBox="1"/>
            <p:nvPr/>
          </p:nvSpPr>
          <p:spPr>
            <a:xfrm rot="0">
              <a:off x="0" y="0"/>
              <a:ext cx="28575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2021 STATEWIDE VOTE SHARE</a:t>
              </a:r>
            </a:p>
          </p:txBody>
        </p:sp>
      </p:grpSp>
      <p:grpSp>
        <p:nvGrpSpPr>
          <p:cNvPr id="117" name=""/>
          <p:cNvGrpSpPr/>
          <p:nvPr/>
        </p:nvGrpSpPr>
        <p:grpSpPr>
          <a:xfrm rot="0">
            <a:off x="914400" y="3248025"/>
            <a:ext cx="838200" cy="171450"/>
            <a:chOff x="0" y="0"/>
            <a:chExt cx="838200" cy="171450"/>
          </a:xfrm>
        </p:grpSpPr>
        <p:sp>
          <p:nvSpPr>
            <p:cNvPr id="1048872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73" name="DM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sp>
        <p:nvSpPr>
          <p:cNvPr id="1048874" name="Rounded Rectangle"/>
          <p:cNvSpPr/>
          <p:nvPr/>
        </p:nvSpPr>
        <p:spPr>
          <a:xfrm rot="0">
            <a:off x="1809750" y="325755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75" name="Rounded Rectangle"/>
          <p:cNvSpPr/>
          <p:nvPr/>
        </p:nvSpPr>
        <p:spPr>
          <a:xfrm rot="0">
            <a:off x="1809750" y="3257550"/>
            <a:ext cx="2171700" cy="142875"/>
          </a:xfrm>
          <a:prstGeom prst="roundRect">
            <a:avLst>
              <a:gd name="adj" fmla="val 50000"/>
            </a:avLst>
          </a:prstGeom>
          <a:solidFill>
            <a:srgbClr val="C95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18" name=""/>
          <p:cNvGrpSpPr/>
          <p:nvPr/>
        </p:nvGrpSpPr>
        <p:grpSpPr>
          <a:xfrm rot="0">
            <a:off x="4762500" y="3238500"/>
            <a:ext cx="742950" cy="171450"/>
            <a:chOff x="0" y="0"/>
            <a:chExt cx="742950" cy="171450"/>
          </a:xfrm>
        </p:grpSpPr>
        <p:sp>
          <p:nvSpPr>
            <p:cNvPr id="1048876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77" name="38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38%</a:t>
              </a:r>
            </a:p>
          </p:txBody>
        </p:sp>
      </p:grpSp>
      <p:grpSp>
        <p:nvGrpSpPr>
          <p:cNvPr id="119" name=""/>
          <p:cNvGrpSpPr/>
          <p:nvPr/>
        </p:nvGrpSpPr>
        <p:grpSpPr>
          <a:xfrm rot="0">
            <a:off x="914400" y="3686175"/>
            <a:ext cx="838200" cy="171450"/>
            <a:chOff x="0" y="0"/>
            <a:chExt cx="838200" cy="171450"/>
          </a:xfrm>
        </p:grpSpPr>
        <p:sp>
          <p:nvSpPr>
            <p:cNvPr id="1048878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79" name="AIADM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sp>
        <p:nvSpPr>
          <p:cNvPr id="1048880" name="Rounded Rectangle"/>
          <p:cNvSpPr/>
          <p:nvPr/>
        </p:nvSpPr>
        <p:spPr>
          <a:xfrm rot="0">
            <a:off x="1809750" y="369570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81" name="Rounded Rectangle"/>
          <p:cNvSpPr/>
          <p:nvPr/>
        </p:nvSpPr>
        <p:spPr>
          <a:xfrm rot="0">
            <a:off x="1809750" y="3695700"/>
            <a:ext cx="1914525" cy="142875"/>
          </a:xfrm>
          <a:prstGeom prst="roundRect">
            <a:avLst>
              <a:gd name="adj" fmla="val 50000"/>
            </a:avLst>
          </a:prstGeom>
          <a:solidFill>
            <a:srgbClr val="3E7B6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0" name=""/>
          <p:cNvGrpSpPr/>
          <p:nvPr/>
        </p:nvGrpSpPr>
        <p:grpSpPr>
          <a:xfrm rot="0">
            <a:off x="4762500" y="3676650"/>
            <a:ext cx="742950" cy="171450"/>
            <a:chOff x="0" y="0"/>
            <a:chExt cx="742950" cy="171450"/>
          </a:xfrm>
        </p:grpSpPr>
        <p:sp>
          <p:nvSpPr>
            <p:cNvPr id="1048882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83" name="33.5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33.5%</a:t>
              </a:r>
            </a:p>
          </p:txBody>
        </p:sp>
      </p:grpSp>
      <p:grpSp>
        <p:nvGrpSpPr>
          <p:cNvPr id="121" name=""/>
          <p:cNvGrpSpPr/>
          <p:nvPr/>
        </p:nvGrpSpPr>
        <p:grpSpPr>
          <a:xfrm rot="0">
            <a:off x="914400" y="4124325"/>
            <a:ext cx="838200" cy="171450"/>
            <a:chOff x="0" y="0"/>
            <a:chExt cx="838200" cy="171450"/>
          </a:xfrm>
        </p:grpSpPr>
        <p:sp>
          <p:nvSpPr>
            <p:cNvPr id="1048884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85" name="INC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INC</a:t>
              </a:r>
            </a:p>
          </p:txBody>
        </p:sp>
      </p:grpSp>
      <p:sp>
        <p:nvSpPr>
          <p:cNvPr id="1048886" name="Rounded Rectangle"/>
          <p:cNvSpPr/>
          <p:nvPr/>
        </p:nvSpPr>
        <p:spPr>
          <a:xfrm rot="0">
            <a:off x="1809750" y="413385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87" name="Rounded Rectangle"/>
          <p:cNvSpPr/>
          <p:nvPr/>
        </p:nvSpPr>
        <p:spPr>
          <a:xfrm rot="0">
            <a:off x="1809750" y="4133850"/>
            <a:ext cx="246062" cy="142875"/>
          </a:xfrm>
          <a:prstGeom prst="roundRect">
            <a:avLst>
              <a:gd name="adj" fmla="val 50000"/>
            </a:avLst>
          </a:prstGeom>
          <a:solidFill>
            <a:srgbClr val="4E78A8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2" name=""/>
          <p:cNvGrpSpPr/>
          <p:nvPr/>
        </p:nvGrpSpPr>
        <p:grpSpPr>
          <a:xfrm rot="0">
            <a:off x="4762500" y="4114800"/>
            <a:ext cx="742950" cy="171450"/>
            <a:chOff x="0" y="0"/>
            <a:chExt cx="742950" cy="171450"/>
          </a:xfrm>
        </p:grpSpPr>
        <p:sp>
          <p:nvSpPr>
            <p:cNvPr id="1048888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89" name="4.3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4.3%</a:t>
              </a:r>
            </a:p>
          </p:txBody>
        </p:sp>
      </p:grpSp>
      <p:grpSp>
        <p:nvGrpSpPr>
          <p:cNvPr id="123" name=""/>
          <p:cNvGrpSpPr/>
          <p:nvPr/>
        </p:nvGrpSpPr>
        <p:grpSpPr>
          <a:xfrm rot="0">
            <a:off x="914400" y="4562475"/>
            <a:ext cx="838200" cy="171450"/>
            <a:chOff x="0" y="0"/>
            <a:chExt cx="838200" cy="171450"/>
          </a:xfrm>
        </p:grpSpPr>
        <p:sp>
          <p:nvSpPr>
            <p:cNvPr id="1048890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91" name="PM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PMK</a:t>
              </a:r>
            </a:p>
          </p:txBody>
        </p:sp>
      </p:grpSp>
      <p:sp>
        <p:nvSpPr>
          <p:cNvPr id="1048892" name="Rounded Rectangle"/>
          <p:cNvSpPr/>
          <p:nvPr/>
        </p:nvSpPr>
        <p:spPr>
          <a:xfrm rot="0">
            <a:off x="1809750" y="457200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893" name="Rounded Rectangle"/>
          <p:cNvSpPr/>
          <p:nvPr/>
        </p:nvSpPr>
        <p:spPr>
          <a:xfrm rot="0">
            <a:off x="1809750" y="4572000"/>
            <a:ext cx="217487" cy="142875"/>
          </a:xfrm>
          <a:prstGeom prst="roundRect">
            <a:avLst>
              <a:gd name="adj" fmla="val 50000"/>
            </a:avLst>
          </a:prstGeom>
          <a:solidFill>
            <a:srgbClr val="9A7D9A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4" name=""/>
          <p:cNvGrpSpPr/>
          <p:nvPr/>
        </p:nvGrpSpPr>
        <p:grpSpPr>
          <a:xfrm rot="0">
            <a:off x="4762500" y="4552950"/>
            <a:ext cx="742950" cy="171450"/>
            <a:chOff x="0" y="0"/>
            <a:chExt cx="742950" cy="171450"/>
          </a:xfrm>
        </p:grpSpPr>
        <p:sp>
          <p:nvSpPr>
            <p:cNvPr id="1048894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95" name="3.8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3.8%</a:t>
              </a:r>
            </a:p>
          </p:txBody>
        </p:sp>
      </p:grpSp>
      <p:sp>
        <p:nvSpPr>
          <p:cNvPr id="1048896" name="Rounded Rectangle"/>
          <p:cNvSpPr/>
          <p:nvPr/>
        </p:nvSpPr>
        <p:spPr>
          <a:xfrm rot="0">
            <a:off x="6286500" y="2571750"/>
            <a:ext cx="4953000" cy="2476500"/>
          </a:xfrm>
          <a:prstGeom prst="roundRect">
            <a:avLst>
              <a:gd name="adj" fmla="val 3079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5" name=""/>
          <p:cNvGrpSpPr/>
          <p:nvPr/>
        </p:nvGrpSpPr>
        <p:grpSpPr>
          <a:xfrm rot="0">
            <a:off x="6534150" y="2800350"/>
            <a:ext cx="2857500" cy="209550"/>
            <a:chOff x="0" y="0"/>
            <a:chExt cx="2857500" cy="209550"/>
          </a:xfrm>
        </p:grpSpPr>
        <p:sp>
          <p:nvSpPr>
            <p:cNvPr id="1048897" name="Rectangle"/>
            <p:cNvSpPr/>
            <p:nvPr/>
          </p:nvSpPr>
          <p:spPr>
            <a:xfrm rot="0">
              <a:off x="0" y="0"/>
              <a:ext cx="28575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898" name="2026 STATEWIDE VOTE SHARE"/>
            <p:cNvSpPr txBox="1"/>
            <p:nvPr/>
          </p:nvSpPr>
          <p:spPr>
            <a:xfrm rot="0">
              <a:off x="0" y="0"/>
              <a:ext cx="28575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2026 STATEWIDE VOTE SHARE</a:t>
              </a:r>
            </a:p>
          </p:txBody>
        </p:sp>
      </p:grpSp>
      <p:grpSp>
        <p:nvGrpSpPr>
          <p:cNvPr id="126" name=""/>
          <p:cNvGrpSpPr/>
          <p:nvPr/>
        </p:nvGrpSpPr>
        <p:grpSpPr>
          <a:xfrm rot="0">
            <a:off x="6534150" y="3248025"/>
            <a:ext cx="838200" cy="171450"/>
            <a:chOff x="0" y="0"/>
            <a:chExt cx="838200" cy="171450"/>
          </a:xfrm>
        </p:grpSpPr>
        <p:sp>
          <p:nvSpPr>
            <p:cNvPr id="1048899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00" name="TV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sp>
        <p:nvSpPr>
          <p:cNvPr id="1048901" name="Rounded Rectangle"/>
          <p:cNvSpPr/>
          <p:nvPr/>
        </p:nvSpPr>
        <p:spPr>
          <a:xfrm rot="0">
            <a:off x="7429500" y="325755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02" name="Rounded Rectangle"/>
          <p:cNvSpPr/>
          <p:nvPr/>
        </p:nvSpPr>
        <p:spPr>
          <a:xfrm rot="0">
            <a:off x="7429500" y="3257550"/>
            <a:ext cx="2006600" cy="142875"/>
          </a:xfrm>
          <a:prstGeom prst="roundRect">
            <a:avLst>
              <a:gd name="adj" fmla="val 50000"/>
            </a:avLst>
          </a:prstGeom>
          <a:solidFill>
            <a:srgbClr val="DF815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7" name=""/>
          <p:cNvGrpSpPr/>
          <p:nvPr/>
        </p:nvGrpSpPr>
        <p:grpSpPr>
          <a:xfrm rot="0">
            <a:off x="10382250" y="3238500"/>
            <a:ext cx="742950" cy="171450"/>
            <a:chOff x="0" y="0"/>
            <a:chExt cx="742950" cy="171450"/>
          </a:xfrm>
        </p:grpSpPr>
        <p:sp>
          <p:nvSpPr>
            <p:cNvPr id="1048903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04" name="35.1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35.1%</a:t>
              </a:r>
            </a:p>
          </p:txBody>
        </p:sp>
      </p:grpSp>
      <p:grpSp>
        <p:nvGrpSpPr>
          <p:cNvPr id="128" name=""/>
          <p:cNvGrpSpPr/>
          <p:nvPr/>
        </p:nvGrpSpPr>
        <p:grpSpPr>
          <a:xfrm rot="0">
            <a:off x="6534150" y="3686175"/>
            <a:ext cx="838200" cy="171450"/>
            <a:chOff x="0" y="0"/>
            <a:chExt cx="838200" cy="171450"/>
          </a:xfrm>
        </p:grpSpPr>
        <p:sp>
          <p:nvSpPr>
            <p:cNvPr id="1048905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06" name="DM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sp>
        <p:nvSpPr>
          <p:cNvPr id="1048907" name="Rounded Rectangle"/>
          <p:cNvSpPr/>
          <p:nvPr/>
        </p:nvSpPr>
        <p:spPr>
          <a:xfrm rot="0">
            <a:off x="7429500" y="369570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08" name="Rounded Rectangle"/>
          <p:cNvSpPr/>
          <p:nvPr/>
        </p:nvSpPr>
        <p:spPr>
          <a:xfrm rot="0">
            <a:off x="7429500" y="3695700"/>
            <a:ext cx="1389062" cy="142875"/>
          </a:xfrm>
          <a:prstGeom prst="roundRect">
            <a:avLst>
              <a:gd name="adj" fmla="val 50000"/>
            </a:avLst>
          </a:prstGeom>
          <a:solidFill>
            <a:srgbClr val="C95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29" name=""/>
          <p:cNvGrpSpPr/>
          <p:nvPr/>
        </p:nvGrpSpPr>
        <p:grpSpPr>
          <a:xfrm rot="0">
            <a:off x="10382250" y="3676650"/>
            <a:ext cx="742950" cy="171450"/>
            <a:chOff x="0" y="0"/>
            <a:chExt cx="742950" cy="171450"/>
          </a:xfrm>
        </p:grpSpPr>
        <p:sp>
          <p:nvSpPr>
            <p:cNvPr id="1048909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10" name="24.3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24.3%</a:t>
              </a:r>
            </a:p>
          </p:txBody>
        </p:sp>
      </p:grpSp>
      <p:grpSp>
        <p:nvGrpSpPr>
          <p:cNvPr id="130" name=""/>
          <p:cNvGrpSpPr/>
          <p:nvPr/>
        </p:nvGrpSpPr>
        <p:grpSpPr>
          <a:xfrm rot="0">
            <a:off x="6534150" y="4124325"/>
            <a:ext cx="838200" cy="171450"/>
            <a:chOff x="0" y="0"/>
            <a:chExt cx="838200" cy="171450"/>
          </a:xfrm>
        </p:grpSpPr>
        <p:sp>
          <p:nvSpPr>
            <p:cNvPr id="1048911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12" name="AIADMK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sp>
        <p:nvSpPr>
          <p:cNvPr id="1048913" name="Rounded Rectangle"/>
          <p:cNvSpPr/>
          <p:nvPr/>
        </p:nvSpPr>
        <p:spPr>
          <a:xfrm rot="0">
            <a:off x="7429500" y="413385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14" name="Rounded Rectangle"/>
          <p:cNvSpPr/>
          <p:nvPr/>
        </p:nvSpPr>
        <p:spPr>
          <a:xfrm rot="0">
            <a:off x="7429500" y="4133850"/>
            <a:ext cx="1217612" cy="142875"/>
          </a:xfrm>
          <a:prstGeom prst="roundRect">
            <a:avLst>
              <a:gd name="adj" fmla="val 50000"/>
            </a:avLst>
          </a:prstGeom>
          <a:solidFill>
            <a:srgbClr val="3E7B6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1" name=""/>
          <p:cNvGrpSpPr/>
          <p:nvPr/>
        </p:nvGrpSpPr>
        <p:grpSpPr>
          <a:xfrm rot="0">
            <a:off x="10382250" y="4114800"/>
            <a:ext cx="742950" cy="171450"/>
            <a:chOff x="0" y="0"/>
            <a:chExt cx="742950" cy="171450"/>
          </a:xfrm>
        </p:grpSpPr>
        <p:sp>
          <p:nvSpPr>
            <p:cNvPr id="1048915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16" name="21.3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21.3%</a:t>
              </a:r>
            </a:p>
          </p:txBody>
        </p:sp>
      </p:grpSp>
      <p:grpSp>
        <p:nvGrpSpPr>
          <p:cNvPr id="132" name=""/>
          <p:cNvGrpSpPr/>
          <p:nvPr/>
        </p:nvGrpSpPr>
        <p:grpSpPr>
          <a:xfrm rot="0">
            <a:off x="6534150" y="4562475"/>
            <a:ext cx="838200" cy="171450"/>
            <a:chOff x="0" y="0"/>
            <a:chExt cx="838200" cy="171450"/>
          </a:xfrm>
        </p:grpSpPr>
        <p:sp>
          <p:nvSpPr>
            <p:cNvPr id="1048917" name="Rectangle"/>
            <p:cNvSpPr/>
            <p:nvPr/>
          </p:nvSpPr>
          <p:spPr>
            <a:xfrm rot="0">
              <a:off x="0" y="0"/>
              <a:ext cx="8382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18" name="INC"/>
            <p:cNvSpPr txBox="1"/>
            <p:nvPr/>
          </p:nvSpPr>
          <p:spPr>
            <a:xfrm rot="0">
              <a:off x="0" y="0"/>
              <a:ext cx="8382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INC</a:t>
              </a:r>
            </a:p>
          </p:txBody>
        </p:sp>
      </p:grpSp>
      <p:sp>
        <p:nvSpPr>
          <p:cNvPr id="1048919" name="Rounded Rectangle"/>
          <p:cNvSpPr/>
          <p:nvPr/>
        </p:nvSpPr>
        <p:spPr>
          <a:xfrm rot="0">
            <a:off x="7429500" y="4572000"/>
            <a:ext cx="2857500" cy="142875"/>
          </a:xfrm>
          <a:prstGeom prst="roundRect">
            <a:avLst>
              <a:gd name="adj" fmla="val 50000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20" name="Rounded Rectangle"/>
          <p:cNvSpPr/>
          <p:nvPr/>
        </p:nvSpPr>
        <p:spPr>
          <a:xfrm rot="0">
            <a:off x="7429500" y="4572000"/>
            <a:ext cx="193675" cy="142875"/>
          </a:xfrm>
          <a:prstGeom prst="roundRect">
            <a:avLst>
              <a:gd name="adj" fmla="val 50000"/>
            </a:avLst>
          </a:prstGeom>
          <a:solidFill>
            <a:srgbClr val="4E78A8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3" name=""/>
          <p:cNvGrpSpPr/>
          <p:nvPr/>
        </p:nvGrpSpPr>
        <p:grpSpPr>
          <a:xfrm rot="0">
            <a:off x="10382250" y="4552950"/>
            <a:ext cx="742950" cy="171450"/>
            <a:chOff x="0" y="0"/>
            <a:chExt cx="742950" cy="171450"/>
          </a:xfrm>
        </p:grpSpPr>
        <p:sp>
          <p:nvSpPr>
            <p:cNvPr id="1048921" name="Rectangle"/>
            <p:cNvSpPr/>
            <p:nvPr/>
          </p:nvSpPr>
          <p:spPr>
            <a:xfrm rot="0">
              <a:off x="0" y="0"/>
              <a:ext cx="74295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22" name="3.4%"/>
            <p:cNvSpPr txBox="1"/>
            <p:nvPr/>
          </p:nvSpPr>
          <p:spPr>
            <a:xfrm rot="0">
              <a:off x="0" y="0"/>
              <a:ext cx="7429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3.4%</a:t>
              </a:r>
            </a:p>
          </p:txBody>
        </p:sp>
      </p:grpSp>
      <p:sp>
        <p:nvSpPr>
          <p:cNvPr id="1048923" name="Rectangle"/>
          <p:cNvSpPr/>
          <p:nvPr/>
        </p:nvSpPr>
        <p:spPr>
          <a:xfrm rot="0">
            <a:off x="3867150" y="3238500"/>
            <a:ext cx="1885950" cy="19050"/>
          </a:xfrm>
          <a:prstGeom prst="rect"/>
          <a:solidFill>
            <a:srgbClr val="DF815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4" name=""/>
          <p:cNvGrpSpPr/>
          <p:nvPr/>
        </p:nvGrpSpPr>
        <p:grpSpPr>
          <a:xfrm rot="0">
            <a:off x="4057650" y="5143500"/>
            <a:ext cx="1524000" cy="228600"/>
            <a:chOff x="0" y="0"/>
            <a:chExt cx="1524000" cy="228600"/>
          </a:xfrm>
        </p:grpSpPr>
        <p:sp>
          <p:nvSpPr>
            <p:cNvPr id="1048924" name="Rectangle"/>
            <p:cNvSpPr/>
            <p:nvPr/>
          </p:nvSpPr>
          <p:spPr>
            <a:xfrm rot="0">
              <a:off x="0" y="0"/>
              <a:ext cx="15240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700">
                <a:solidFill>
                  <a:srgbClr val="4F3829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25" name="35.1% sits close to the 38.0% baseline."/>
            <p:cNvSpPr txBox="1"/>
            <p:nvPr/>
          </p:nvSpPr>
          <p:spPr>
            <a:xfrm rot="0">
              <a:off x="0" y="0"/>
              <a:ext cx="1524000" cy="203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700" lang="zh-CN">
                  <a:solidFill>
                    <a:srgbClr val="4F3829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35.1% sits close to the 38.0% baseline.</a:t>
              </a:r>
            </a:p>
          </p:txBody>
        </p:sp>
      </p:grpSp>
      <p:sp>
        <p:nvSpPr>
          <p:cNvPr id="1048926" name="Rounded Rectangle"/>
          <p:cNvSpPr/>
          <p:nvPr/>
        </p:nvSpPr>
        <p:spPr>
          <a:xfrm rot="0">
            <a:off x="666750" y="5467350"/>
            <a:ext cx="10572750" cy="381000"/>
          </a:xfrm>
          <a:prstGeom prst="roundRect">
            <a:avLst>
              <a:gd name="adj" fmla="val 20000"/>
            </a:avLst>
          </a:prstGeom>
          <a:solidFill>
            <a:srgbClr val="4F3829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5" name=""/>
          <p:cNvGrpSpPr/>
          <p:nvPr/>
        </p:nvGrpSpPr>
        <p:grpSpPr>
          <a:xfrm rot="0">
            <a:off x="895350" y="5591175"/>
            <a:ext cx="9810750" cy="152400"/>
            <a:chOff x="0" y="0"/>
            <a:chExt cx="9810750" cy="152400"/>
          </a:xfrm>
        </p:grpSpPr>
        <p:sp>
          <p:nvSpPr>
            <p:cNvPr id="1048927" name="Rectangle"/>
            <p:cNvSpPr/>
            <p:nvPr/>
          </p:nvSpPr>
          <p:spPr>
            <a:xfrm rot="0">
              <a:off x="0" y="0"/>
              <a:ext cx="98107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9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28" name="Editorial guardrail: say TVK mirrored the scale of the prior footprint; do not claim every vote directly transferred."/>
            <p:cNvSpPr txBox="1"/>
            <p:nvPr/>
          </p:nvSpPr>
          <p:spPr>
            <a:xfrm rot="0">
              <a:off x="0" y="0"/>
              <a:ext cx="9810750" cy="1397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9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Editorial guardrail: say TVK mirrored the scale of the prior footprint; do not claim every vote directly transferred.</a:t>
              </a:r>
            </a:p>
          </p:txBody>
        </p:sp>
      </p:grpSp>
    </p:spTree>
  </p:cSld>
  <p:clrMapOvr>
    <a:masterClrMapping/>
  </p:clrMapOvr>
  <p:transition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9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30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31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32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7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933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34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138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935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36" name="06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06</a:t>
              </a:r>
            </a:p>
          </p:txBody>
        </p:sp>
      </p:grpSp>
      <p:sp>
        <p:nvSpPr>
          <p:cNvPr id="1048937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39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938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39" name="TURNOUT EXPANSION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TURNOUT EXPANSION</a:t>
              </a:r>
            </a:p>
          </p:txBody>
        </p:sp>
      </p:grpSp>
      <p:grpSp>
        <p:nvGrpSpPr>
          <p:cNvPr id="140" name=""/>
          <p:cNvGrpSpPr/>
          <p:nvPr/>
        </p:nvGrpSpPr>
        <p:grpSpPr>
          <a:xfrm rot="0">
            <a:off x="552450" y="704850"/>
            <a:ext cx="7905750" cy="1041400"/>
            <a:chOff x="0" y="0"/>
            <a:chExt cx="7905750" cy="1041400"/>
          </a:xfrm>
        </p:grpSpPr>
        <p:sp>
          <p:nvSpPr>
            <p:cNvPr id="1048940" name="Rectangle"/>
            <p:cNvSpPr/>
            <p:nvPr/>
          </p:nvSpPr>
          <p:spPr>
            <a:xfrm rot="0">
              <a:off x="0" y="0"/>
              <a:ext cx="790575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941" name="A bigger electorate changes the interpretation of the vote shift."/>
            <p:cNvSpPr txBox="1"/>
            <p:nvPr/>
          </p:nvSpPr>
          <p:spPr>
            <a:xfrm rot="0">
              <a:off x="0" y="0"/>
              <a:ext cx="790575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A bigger electorate changes the interpretation of the vote shift.</a:t>
              </a:r>
            </a:p>
          </p:txBody>
        </p:sp>
      </p:grpSp>
      <p:grpSp>
        <p:nvGrpSpPr>
          <p:cNvPr id="141" name=""/>
          <p:cNvGrpSpPr/>
          <p:nvPr/>
        </p:nvGrpSpPr>
        <p:grpSpPr>
          <a:xfrm rot="0">
            <a:off x="609600" y="1695450"/>
            <a:ext cx="6858000" cy="476250"/>
            <a:chOff x="0" y="0"/>
            <a:chExt cx="6858000" cy="476250"/>
          </a:xfrm>
        </p:grpSpPr>
        <p:sp>
          <p:nvSpPr>
            <p:cNvPr id="1048942" name="Rectangle"/>
            <p:cNvSpPr/>
            <p:nvPr/>
          </p:nvSpPr>
          <p:spPr>
            <a:xfrm rot="0">
              <a:off x="0" y="0"/>
              <a:ext cx="6858000" cy="4762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43" name="Average turnout rose by 12.8 percentage points. That makes mobilisation a standalone story for AtliQ Media, not a footnote."/>
            <p:cNvSpPr txBox="1"/>
            <p:nvPr/>
          </p:nvSpPr>
          <p:spPr>
            <a:xfrm rot="0">
              <a:off x="0" y="0"/>
              <a:ext cx="68580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Average turnout rose by 12.8 percentage points. That makes mobilisation a standalone story for AtliQ Media, not a footnote.</a:t>
              </a:r>
            </a:p>
          </p:txBody>
        </p:sp>
      </p:grpSp>
      <p:sp>
        <p:nvSpPr>
          <p:cNvPr id="1048944" name="Rounded Rectangle"/>
          <p:cNvSpPr/>
          <p:nvPr/>
        </p:nvSpPr>
        <p:spPr>
          <a:xfrm rot="0">
            <a:off x="685800" y="2686050"/>
            <a:ext cx="24765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42" name=""/>
          <p:cNvGrpSpPr/>
          <p:nvPr/>
        </p:nvGrpSpPr>
        <p:grpSpPr>
          <a:xfrm rot="0">
            <a:off x="857250" y="2838450"/>
            <a:ext cx="2152650" cy="228600"/>
            <a:chOff x="0" y="0"/>
            <a:chExt cx="2152650" cy="228600"/>
          </a:xfrm>
        </p:grpSpPr>
        <p:sp>
          <p:nvSpPr>
            <p:cNvPr id="1048945" name="Rectangle"/>
            <p:cNvSpPr/>
            <p:nvPr/>
          </p:nvSpPr>
          <p:spPr>
            <a:xfrm rot="0">
              <a:off x="0" y="0"/>
              <a:ext cx="21526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46" name="AVG TURNOUT 2021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AVG TURNOUT 2021</a:t>
              </a:r>
            </a:p>
          </p:txBody>
        </p:sp>
      </p:grpSp>
      <p:grpSp>
        <p:nvGrpSpPr>
          <p:cNvPr id="143" name=""/>
          <p:cNvGrpSpPr/>
          <p:nvPr/>
        </p:nvGrpSpPr>
        <p:grpSpPr>
          <a:xfrm rot="0">
            <a:off x="857250" y="3095625"/>
            <a:ext cx="2152650" cy="406400"/>
            <a:chOff x="0" y="0"/>
            <a:chExt cx="2152650" cy="406400"/>
          </a:xfrm>
        </p:grpSpPr>
        <p:sp>
          <p:nvSpPr>
            <p:cNvPr id="1048947" name="Rectangle"/>
            <p:cNvSpPr/>
            <p:nvPr/>
          </p:nvSpPr>
          <p:spPr>
            <a:xfrm rot="0">
              <a:off x="0" y="0"/>
              <a:ext cx="21526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48" name="73.4%"/>
            <p:cNvSpPr txBox="1"/>
            <p:nvPr/>
          </p:nvSpPr>
          <p:spPr>
            <a:xfrm rot="0">
              <a:off x="0" y="0"/>
              <a:ext cx="21526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73.4%</a:t>
              </a:r>
            </a:p>
          </p:txBody>
        </p:sp>
      </p:grpSp>
      <p:grpSp>
        <p:nvGrpSpPr>
          <p:cNvPr id="144" name=""/>
          <p:cNvGrpSpPr/>
          <p:nvPr/>
        </p:nvGrpSpPr>
        <p:grpSpPr>
          <a:xfrm rot="0">
            <a:off x="857250" y="3562350"/>
            <a:ext cx="2152650" cy="133350"/>
            <a:chOff x="0" y="0"/>
            <a:chExt cx="2152650" cy="133350"/>
          </a:xfrm>
        </p:grpSpPr>
        <p:sp>
          <p:nvSpPr>
            <p:cNvPr id="1048949" name="Rectangle"/>
            <p:cNvSpPr/>
            <p:nvPr/>
          </p:nvSpPr>
          <p:spPr>
            <a:xfrm rot="0">
              <a:off x="0" y="0"/>
              <a:ext cx="21526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50" name="baseline electorate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baseline electorate</a:t>
              </a:r>
            </a:p>
          </p:txBody>
        </p:sp>
      </p:grpSp>
      <p:sp>
        <p:nvSpPr>
          <p:cNvPr id="1048951" name="Rounded Rectangle"/>
          <p:cNvSpPr/>
          <p:nvPr/>
        </p:nvSpPr>
        <p:spPr>
          <a:xfrm rot="0">
            <a:off x="3448050" y="2686050"/>
            <a:ext cx="24765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45" name=""/>
          <p:cNvGrpSpPr/>
          <p:nvPr/>
        </p:nvGrpSpPr>
        <p:grpSpPr>
          <a:xfrm rot="0">
            <a:off x="3619500" y="2838450"/>
            <a:ext cx="2152650" cy="228600"/>
            <a:chOff x="0" y="0"/>
            <a:chExt cx="2152650" cy="228600"/>
          </a:xfrm>
        </p:grpSpPr>
        <p:sp>
          <p:nvSpPr>
            <p:cNvPr id="1048952" name="Rectangle"/>
            <p:cNvSpPr/>
            <p:nvPr/>
          </p:nvSpPr>
          <p:spPr>
            <a:xfrm rot="0">
              <a:off x="0" y="0"/>
              <a:ext cx="21526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53" name="AVG TURNOUT 2026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AVG TURNOUT 2026</a:t>
              </a:r>
            </a:p>
          </p:txBody>
        </p:sp>
      </p:grpSp>
      <p:grpSp>
        <p:nvGrpSpPr>
          <p:cNvPr id="146" name=""/>
          <p:cNvGrpSpPr/>
          <p:nvPr/>
        </p:nvGrpSpPr>
        <p:grpSpPr>
          <a:xfrm rot="0">
            <a:off x="3619500" y="3095625"/>
            <a:ext cx="2152650" cy="406400"/>
            <a:chOff x="0" y="0"/>
            <a:chExt cx="2152650" cy="406400"/>
          </a:xfrm>
        </p:grpSpPr>
        <p:sp>
          <p:nvSpPr>
            <p:cNvPr id="1048954" name="Rectangle"/>
            <p:cNvSpPr/>
            <p:nvPr/>
          </p:nvSpPr>
          <p:spPr>
            <a:xfrm rot="0">
              <a:off x="0" y="0"/>
              <a:ext cx="21526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DF815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55" name="86.2%"/>
            <p:cNvSpPr txBox="1"/>
            <p:nvPr/>
          </p:nvSpPr>
          <p:spPr>
            <a:xfrm rot="0">
              <a:off x="0" y="0"/>
              <a:ext cx="21526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DF815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86.2%</a:t>
              </a:r>
            </a:p>
          </p:txBody>
        </p:sp>
      </p:grpSp>
      <p:grpSp>
        <p:nvGrpSpPr>
          <p:cNvPr id="147" name=""/>
          <p:cNvGrpSpPr/>
          <p:nvPr/>
        </p:nvGrpSpPr>
        <p:grpSpPr>
          <a:xfrm rot="0">
            <a:off x="3619500" y="3562350"/>
            <a:ext cx="2152650" cy="133350"/>
            <a:chOff x="0" y="0"/>
            <a:chExt cx="2152650" cy="133350"/>
          </a:xfrm>
        </p:grpSpPr>
        <p:sp>
          <p:nvSpPr>
            <p:cNvPr id="1048956" name="Rectangle"/>
            <p:cNvSpPr/>
            <p:nvPr/>
          </p:nvSpPr>
          <p:spPr>
            <a:xfrm rot="0">
              <a:off x="0" y="0"/>
              <a:ext cx="21526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57" name="expanded electorate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expanded electorate</a:t>
              </a:r>
            </a:p>
          </p:txBody>
        </p:sp>
      </p:grpSp>
      <p:sp>
        <p:nvSpPr>
          <p:cNvPr id="1048958" name="Rounded Rectangle"/>
          <p:cNvSpPr/>
          <p:nvPr/>
        </p:nvSpPr>
        <p:spPr>
          <a:xfrm rot="0">
            <a:off x="6210300" y="2686050"/>
            <a:ext cx="24765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48" name=""/>
          <p:cNvGrpSpPr/>
          <p:nvPr/>
        </p:nvGrpSpPr>
        <p:grpSpPr>
          <a:xfrm rot="0">
            <a:off x="6381750" y="2838450"/>
            <a:ext cx="2152650" cy="228600"/>
            <a:chOff x="0" y="0"/>
            <a:chExt cx="2152650" cy="228600"/>
          </a:xfrm>
        </p:grpSpPr>
        <p:sp>
          <p:nvSpPr>
            <p:cNvPr id="1048959" name="Rectangle"/>
            <p:cNvSpPr/>
            <p:nvPr/>
          </p:nvSpPr>
          <p:spPr>
            <a:xfrm rot="0">
              <a:off x="0" y="0"/>
              <a:ext cx="21526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60" name="PARTICIPATION LIFT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PARTICIPATION LIFT</a:t>
              </a:r>
            </a:p>
          </p:txBody>
        </p:sp>
      </p:grpSp>
      <p:grpSp>
        <p:nvGrpSpPr>
          <p:cNvPr id="149" name=""/>
          <p:cNvGrpSpPr/>
          <p:nvPr/>
        </p:nvGrpSpPr>
        <p:grpSpPr>
          <a:xfrm rot="0">
            <a:off x="6381750" y="3095625"/>
            <a:ext cx="2152650" cy="406400"/>
            <a:chOff x="0" y="0"/>
            <a:chExt cx="2152650" cy="406400"/>
          </a:xfrm>
        </p:grpSpPr>
        <p:sp>
          <p:nvSpPr>
            <p:cNvPr id="1048961" name="Rectangle"/>
            <p:cNvSpPr/>
            <p:nvPr/>
          </p:nvSpPr>
          <p:spPr>
            <a:xfrm rot="0">
              <a:off x="0" y="0"/>
              <a:ext cx="21526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62" name="+12.8pp"/>
            <p:cNvSpPr txBox="1"/>
            <p:nvPr/>
          </p:nvSpPr>
          <p:spPr>
            <a:xfrm rot="0">
              <a:off x="0" y="0"/>
              <a:ext cx="21526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+12.8pp</a:t>
              </a:r>
            </a:p>
          </p:txBody>
        </p:sp>
      </p:grpSp>
      <p:grpSp>
        <p:nvGrpSpPr>
          <p:cNvPr id="150" name=""/>
          <p:cNvGrpSpPr/>
          <p:nvPr/>
        </p:nvGrpSpPr>
        <p:grpSpPr>
          <a:xfrm rot="0">
            <a:off x="6381750" y="3562350"/>
            <a:ext cx="2152650" cy="133350"/>
            <a:chOff x="0" y="0"/>
            <a:chExt cx="2152650" cy="133350"/>
          </a:xfrm>
        </p:grpSpPr>
        <p:sp>
          <p:nvSpPr>
            <p:cNvPr id="1048963" name="Rectangle"/>
            <p:cNvSpPr/>
            <p:nvPr/>
          </p:nvSpPr>
          <p:spPr>
            <a:xfrm rot="0">
              <a:off x="0" y="0"/>
              <a:ext cx="21526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64" name="new votes in play"/>
            <p:cNvSpPr txBox="1"/>
            <p:nvPr/>
          </p:nvSpPr>
          <p:spPr>
            <a:xfrm rot="0">
              <a:off x="0" y="0"/>
              <a:ext cx="21526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new votes in play</a:t>
              </a:r>
            </a:p>
          </p:txBody>
        </p:sp>
      </p:grpSp>
      <p:sp>
        <p:nvSpPr>
          <p:cNvPr id="1048965" name="Rounded Rectangle"/>
          <p:cNvSpPr/>
          <p:nvPr/>
        </p:nvSpPr>
        <p:spPr>
          <a:xfrm rot="0">
            <a:off x="9067800" y="2305050"/>
            <a:ext cx="2190750" cy="2476500"/>
          </a:xfrm>
          <a:prstGeom prst="roundRect">
            <a:avLst>
              <a:gd name="adj" fmla="val 3477"/>
            </a:avLst>
          </a:prstGeom>
          <a:solidFill>
            <a:srgbClr val="2F241E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51" name=""/>
          <p:cNvGrpSpPr/>
          <p:nvPr/>
        </p:nvGrpSpPr>
        <p:grpSpPr>
          <a:xfrm rot="0">
            <a:off x="9315450" y="2609850"/>
            <a:ext cx="1619250" cy="228600"/>
            <a:chOff x="0" y="0"/>
            <a:chExt cx="1619250" cy="228600"/>
          </a:xfrm>
        </p:grpSpPr>
        <p:sp>
          <p:nvSpPr>
            <p:cNvPr id="1048966" name="Rectangle"/>
            <p:cNvSpPr/>
            <p:nvPr/>
          </p:nvSpPr>
          <p:spPr>
            <a:xfrm rot="0">
              <a:off x="0" y="0"/>
              <a:ext cx="1619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D8B88E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67" name="LEADERSHIP SIGNAL"/>
            <p:cNvSpPr txBox="1"/>
            <p:nvPr/>
          </p:nvSpPr>
          <p:spPr>
            <a:xfrm rot="0">
              <a:off x="0" y="0"/>
              <a:ext cx="1619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D8B88E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LEADERSHIP SIGNAL</a:t>
              </a:r>
            </a:p>
          </p:txBody>
        </p:sp>
      </p:grpSp>
      <p:grpSp>
        <p:nvGrpSpPr>
          <p:cNvPr id="152" name=""/>
          <p:cNvGrpSpPr/>
          <p:nvPr/>
        </p:nvGrpSpPr>
        <p:grpSpPr>
          <a:xfrm rot="0">
            <a:off x="9315450" y="3000375"/>
            <a:ext cx="1581150" cy="1428750"/>
            <a:chOff x="0" y="0"/>
            <a:chExt cx="1581150" cy="1428750"/>
          </a:xfrm>
        </p:grpSpPr>
        <p:sp>
          <p:nvSpPr>
            <p:cNvPr id="1048968" name="Rectangle"/>
            <p:cNvSpPr/>
            <p:nvPr/>
          </p:nvSpPr>
          <p:spPr>
            <a:xfrm rot="0">
              <a:off x="0" y="0"/>
              <a:ext cx="1581150" cy="14287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FFFFFF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969" name="Mobilisation coverage can extend past counting day into voter behaviour, geography, and first-time participation."/>
            <p:cNvSpPr txBox="1"/>
            <p:nvPr/>
          </p:nvSpPr>
          <p:spPr>
            <a:xfrm rot="0">
              <a:off x="0" y="0"/>
              <a:ext cx="1581150" cy="838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FFFFFF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Mobilisation coverage can extend past counting day into voter behaviour, geography, and first-time participation.</a:t>
              </a:r>
            </a:p>
          </p:txBody>
        </p:sp>
      </p:grpSp>
      <p:sp>
        <p:nvSpPr>
          <p:cNvPr id="1048970" name="Rounded Rectangle"/>
          <p:cNvSpPr/>
          <p:nvPr/>
        </p:nvSpPr>
        <p:spPr>
          <a:xfrm rot="0">
            <a:off x="952500" y="4857750"/>
            <a:ext cx="7524750" cy="228600"/>
          </a:xfrm>
          <a:prstGeom prst="roundRect">
            <a:avLst>
              <a:gd name="adj" fmla="val 33333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71" name="Rounded Rectangle"/>
          <p:cNvSpPr/>
          <p:nvPr/>
        </p:nvSpPr>
        <p:spPr>
          <a:xfrm rot="0">
            <a:off x="952500" y="4857750"/>
            <a:ext cx="5522912" cy="228600"/>
          </a:xfrm>
          <a:prstGeom prst="roundRect">
            <a:avLst>
              <a:gd name="adj" fmla="val 33333"/>
            </a:avLst>
          </a:prstGeom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53" name=""/>
          <p:cNvGrpSpPr/>
          <p:nvPr/>
        </p:nvGrpSpPr>
        <p:grpSpPr>
          <a:xfrm rot="0">
            <a:off x="1066800" y="4914900"/>
            <a:ext cx="1524000" cy="133350"/>
            <a:chOff x="0" y="0"/>
            <a:chExt cx="1524000" cy="133350"/>
          </a:xfrm>
        </p:grpSpPr>
        <p:sp>
          <p:nvSpPr>
            <p:cNvPr id="1048972" name="Rectangle"/>
            <p:cNvSpPr/>
            <p:nvPr/>
          </p:nvSpPr>
          <p:spPr>
            <a:xfrm rot="0">
              <a:off x="0" y="0"/>
              <a:ext cx="15240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73" name="2021 turnout"/>
            <p:cNvSpPr txBox="1"/>
            <p:nvPr/>
          </p:nvSpPr>
          <p:spPr>
            <a:xfrm rot="0">
              <a:off x="0" y="0"/>
              <a:ext cx="1524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2021 turnout</a:t>
              </a:r>
            </a:p>
          </p:txBody>
        </p:sp>
      </p:grpSp>
      <p:sp>
        <p:nvSpPr>
          <p:cNvPr id="1048974" name="Rounded Rectangle"/>
          <p:cNvSpPr/>
          <p:nvPr/>
        </p:nvSpPr>
        <p:spPr>
          <a:xfrm rot="0">
            <a:off x="952500" y="5353050"/>
            <a:ext cx="7524750" cy="228600"/>
          </a:xfrm>
          <a:prstGeom prst="roundRect">
            <a:avLst>
              <a:gd name="adj" fmla="val 33333"/>
            </a:avLst>
          </a:prstGeom>
          <a:solidFill>
            <a:srgbClr val="EADFD2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75" name="Rounded Rectangle"/>
          <p:cNvSpPr/>
          <p:nvPr/>
        </p:nvSpPr>
        <p:spPr>
          <a:xfrm rot="0">
            <a:off x="952500" y="5353050"/>
            <a:ext cx="6486525" cy="228600"/>
          </a:xfrm>
          <a:prstGeom prst="roundRect">
            <a:avLst>
              <a:gd name="adj" fmla="val 33333"/>
            </a:avLst>
          </a:prstGeom>
          <a:solidFill>
            <a:srgbClr val="DF815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54" name=""/>
          <p:cNvGrpSpPr/>
          <p:nvPr/>
        </p:nvGrpSpPr>
        <p:grpSpPr>
          <a:xfrm rot="0">
            <a:off x="1066800" y="5410200"/>
            <a:ext cx="1524000" cy="133350"/>
            <a:chOff x="0" y="0"/>
            <a:chExt cx="1524000" cy="133350"/>
          </a:xfrm>
        </p:grpSpPr>
        <p:sp>
          <p:nvSpPr>
            <p:cNvPr id="1048976" name="Rectangle"/>
            <p:cNvSpPr/>
            <p:nvPr/>
          </p:nvSpPr>
          <p:spPr>
            <a:xfrm rot="0">
              <a:off x="0" y="0"/>
              <a:ext cx="15240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77" name="2026 turnout"/>
            <p:cNvSpPr txBox="1"/>
            <p:nvPr/>
          </p:nvSpPr>
          <p:spPr>
            <a:xfrm rot="0">
              <a:off x="0" y="0"/>
              <a:ext cx="1524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2026 turnout</a:t>
              </a:r>
            </a:p>
          </p:txBody>
        </p:sp>
      </p:grpSp>
    </p:spTree>
  </p:cSld>
  <p:clrMapOvr>
    <a:masterClrMapping/>
  </p:clrMapOvr>
  <p:transition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8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79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80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8981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56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8982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83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157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8984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85" name="07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07</a:t>
              </a:r>
            </a:p>
          </p:txBody>
        </p:sp>
      </p:grpSp>
      <p:sp>
        <p:nvSpPr>
          <p:cNvPr id="1048986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58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8987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88" name="STORY 03 / MARGINS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STORY 03 / MARGINS</a:t>
              </a:r>
            </a:p>
          </p:txBody>
        </p:sp>
      </p:grpSp>
      <p:grpSp>
        <p:nvGrpSpPr>
          <p:cNvPr id="159" name=""/>
          <p:cNvGrpSpPr/>
          <p:nvPr/>
        </p:nvGrpSpPr>
        <p:grpSpPr>
          <a:xfrm rot="0">
            <a:off x="552450" y="704850"/>
            <a:ext cx="8191500" cy="1041400"/>
            <a:chOff x="0" y="0"/>
            <a:chExt cx="8191500" cy="1041400"/>
          </a:xfrm>
        </p:grpSpPr>
        <p:sp>
          <p:nvSpPr>
            <p:cNvPr id="1048989" name="Rectangle"/>
            <p:cNvSpPr/>
            <p:nvPr/>
          </p:nvSpPr>
          <p:spPr>
            <a:xfrm rot="0">
              <a:off x="0" y="0"/>
              <a:ext cx="81915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8990" name="The winning threshold collapsed into thinner pluralities."/>
            <p:cNvSpPr txBox="1"/>
            <p:nvPr/>
          </p:nvSpPr>
          <p:spPr>
            <a:xfrm rot="0">
              <a:off x="0" y="0"/>
              <a:ext cx="819150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The winning threshold collapsed into thinner pluralities.</a:t>
              </a:r>
            </a:p>
          </p:txBody>
        </p:sp>
      </p:grpSp>
      <p:grpSp>
        <p:nvGrpSpPr>
          <p:cNvPr id="160" name=""/>
          <p:cNvGrpSpPr/>
          <p:nvPr/>
        </p:nvGrpSpPr>
        <p:grpSpPr>
          <a:xfrm rot="0">
            <a:off x="609600" y="1695450"/>
            <a:ext cx="7429500" cy="495300"/>
            <a:chOff x="0" y="0"/>
            <a:chExt cx="7429500" cy="495300"/>
          </a:xfrm>
        </p:grpSpPr>
        <p:sp>
          <p:nvSpPr>
            <p:cNvPr id="1048991" name="Rectangle"/>
            <p:cNvSpPr/>
            <p:nvPr/>
          </p:nvSpPr>
          <p:spPr>
            <a:xfrm rot="0">
              <a:off x="0" y="0"/>
              <a:ext cx="7429500" cy="4953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92" name="Average winning margin fell 27%, while seats won below 35% vote share jumped from 2 to 61. This is the strongest case for seat-level monitoring."/>
            <p:cNvSpPr txBox="1"/>
            <p:nvPr/>
          </p:nvSpPr>
          <p:spPr>
            <a:xfrm rot="0">
              <a:off x="0" y="0"/>
              <a:ext cx="7429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Average winning margin fell 27%, while seats won below 35% vote share jumped from 2 to 61. This is the strongest case for seat-level monitoring.</a:t>
              </a:r>
            </a:p>
          </p:txBody>
        </p:sp>
      </p:grpSp>
      <p:sp>
        <p:nvSpPr>
          <p:cNvPr id="1048993" name="Rounded Rectangle"/>
          <p:cNvSpPr/>
          <p:nvPr/>
        </p:nvSpPr>
        <p:spPr>
          <a:xfrm rot="0">
            <a:off x="666750" y="2571750"/>
            <a:ext cx="23241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61" name=""/>
          <p:cNvGrpSpPr/>
          <p:nvPr/>
        </p:nvGrpSpPr>
        <p:grpSpPr>
          <a:xfrm rot="0">
            <a:off x="838200" y="2724150"/>
            <a:ext cx="2000250" cy="228600"/>
            <a:chOff x="0" y="0"/>
            <a:chExt cx="2000250" cy="228600"/>
          </a:xfrm>
        </p:grpSpPr>
        <p:sp>
          <p:nvSpPr>
            <p:cNvPr id="1048994" name="Rectangle"/>
            <p:cNvSpPr/>
            <p:nvPr/>
          </p:nvSpPr>
          <p:spPr>
            <a:xfrm rot="0">
              <a:off x="0" y="0"/>
              <a:ext cx="2000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95" name="AVG MARGIN 2021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AVG MARGIN 2021</a:t>
              </a:r>
            </a:p>
          </p:txBody>
        </p:sp>
      </p:grpSp>
      <p:grpSp>
        <p:nvGrpSpPr>
          <p:cNvPr id="162" name=""/>
          <p:cNvGrpSpPr/>
          <p:nvPr/>
        </p:nvGrpSpPr>
        <p:grpSpPr>
          <a:xfrm rot="0">
            <a:off x="838200" y="2981325"/>
            <a:ext cx="2000250" cy="406400"/>
            <a:chOff x="0" y="0"/>
            <a:chExt cx="2000250" cy="406400"/>
          </a:xfrm>
        </p:grpSpPr>
        <p:sp>
          <p:nvSpPr>
            <p:cNvPr id="1048996" name="Rectangle"/>
            <p:cNvSpPr/>
            <p:nvPr/>
          </p:nvSpPr>
          <p:spPr>
            <a:xfrm rot="0">
              <a:off x="0" y="0"/>
              <a:ext cx="20002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97" name="22,871"/>
            <p:cNvSpPr txBox="1"/>
            <p:nvPr/>
          </p:nvSpPr>
          <p:spPr>
            <a:xfrm rot="0">
              <a:off x="0" y="0"/>
              <a:ext cx="20002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22,871</a:t>
              </a:r>
            </a:p>
          </p:txBody>
        </p:sp>
      </p:grpSp>
      <p:grpSp>
        <p:nvGrpSpPr>
          <p:cNvPr id="163" name=""/>
          <p:cNvGrpSpPr/>
          <p:nvPr/>
        </p:nvGrpSpPr>
        <p:grpSpPr>
          <a:xfrm rot="0">
            <a:off x="838200" y="3448050"/>
            <a:ext cx="2000250" cy="133350"/>
            <a:chOff x="0" y="0"/>
            <a:chExt cx="2000250" cy="133350"/>
          </a:xfrm>
        </p:grpSpPr>
        <p:sp>
          <p:nvSpPr>
            <p:cNvPr id="1048998" name="Rectangle"/>
            <p:cNvSpPr/>
            <p:nvPr/>
          </p:nvSpPr>
          <p:spPr>
            <a:xfrm rot="0">
              <a:off x="0" y="0"/>
              <a:ext cx="20002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8999" name="votes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votes</a:t>
              </a:r>
            </a:p>
          </p:txBody>
        </p:sp>
      </p:grpSp>
      <p:sp>
        <p:nvSpPr>
          <p:cNvPr id="1049000" name="Rounded Rectangle"/>
          <p:cNvSpPr/>
          <p:nvPr/>
        </p:nvSpPr>
        <p:spPr>
          <a:xfrm rot="0">
            <a:off x="3219450" y="2571750"/>
            <a:ext cx="23241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64" name=""/>
          <p:cNvGrpSpPr/>
          <p:nvPr/>
        </p:nvGrpSpPr>
        <p:grpSpPr>
          <a:xfrm rot="0">
            <a:off x="3390900" y="2724150"/>
            <a:ext cx="2000250" cy="228600"/>
            <a:chOff x="0" y="0"/>
            <a:chExt cx="2000250" cy="228600"/>
          </a:xfrm>
        </p:grpSpPr>
        <p:sp>
          <p:nvSpPr>
            <p:cNvPr id="1049001" name="Rectangle"/>
            <p:cNvSpPr/>
            <p:nvPr/>
          </p:nvSpPr>
          <p:spPr>
            <a:xfrm rot="0">
              <a:off x="0" y="0"/>
              <a:ext cx="2000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02" name="AVG MARGIN 2026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AVG MARGIN 2026</a:t>
              </a:r>
            </a:p>
          </p:txBody>
        </p:sp>
      </p:grpSp>
      <p:grpSp>
        <p:nvGrpSpPr>
          <p:cNvPr id="165" name=""/>
          <p:cNvGrpSpPr/>
          <p:nvPr/>
        </p:nvGrpSpPr>
        <p:grpSpPr>
          <a:xfrm rot="0">
            <a:off x="3390900" y="2981325"/>
            <a:ext cx="2000250" cy="406400"/>
            <a:chOff x="0" y="0"/>
            <a:chExt cx="2000250" cy="406400"/>
          </a:xfrm>
        </p:grpSpPr>
        <p:sp>
          <p:nvSpPr>
            <p:cNvPr id="1049003" name="Rectangle"/>
            <p:cNvSpPr/>
            <p:nvPr/>
          </p:nvSpPr>
          <p:spPr>
            <a:xfrm rot="0">
              <a:off x="0" y="0"/>
              <a:ext cx="20002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DF8155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04" name="16,784"/>
            <p:cNvSpPr txBox="1"/>
            <p:nvPr/>
          </p:nvSpPr>
          <p:spPr>
            <a:xfrm rot="0">
              <a:off x="0" y="0"/>
              <a:ext cx="20002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DF8155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16,784</a:t>
              </a:r>
            </a:p>
          </p:txBody>
        </p:sp>
      </p:grpSp>
      <p:grpSp>
        <p:nvGrpSpPr>
          <p:cNvPr id="166" name=""/>
          <p:cNvGrpSpPr/>
          <p:nvPr/>
        </p:nvGrpSpPr>
        <p:grpSpPr>
          <a:xfrm rot="0">
            <a:off x="3390900" y="3448050"/>
            <a:ext cx="2000250" cy="133350"/>
            <a:chOff x="0" y="0"/>
            <a:chExt cx="2000250" cy="133350"/>
          </a:xfrm>
        </p:grpSpPr>
        <p:sp>
          <p:nvSpPr>
            <p:cNvPr id="1049005" name="Rectangle"/>
            <p:cNvSpPr/>
            <p:nvPr/>
          </p:nvSpPr>
          <p:spPr>
            <a:xfrm rot="0">
              <a:off x="0" y="0"/>
              <a:ext cx="20002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06" name="votes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votes</a:t>
              </a:r>
            </a:p>
          </p:txBody>
        </p:sp>
      </p:grpSp>
      <p:sp>
        <p:nvSpPr>
          <p:cNvPr id="1049007" name="Rounded Rectangle"/>
          <p:cNvSpPr/>
          <p:nvPr/>
        </p:nvSpPr>
        <p:spPr>
          <a:xfrm rot="0">
            <a:off x="5772150" y="2571750"/>
            <a:ext cx="23241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67" name=""/>
          <p:cNvGrpSpPr/>
          <p:nvPr/>
        </p:nvGrpSpPr>
        <p:grpSpPr>
          <a:xfrm rot="0">
            <a:off x="5943600" y="2724150"/>
            <a:ext cx="2000250" cy="228600"/>
            <a:chOff x="0" y="0"/>
            <a:chExt cx="2000250" cy="228600"/>
          </a:xfrm>
        </p:grpSpPr>
        <p:sp>
          <p:nvSpPr>
            <p:cNvPr id="1049008" name="Rectangle"/>
            <p:cNvSpPr/>
            <p:nvPr/>
          </p:nvSpPr>
          <p:spPr>
            <a:xfrm rot="0">
              <a:off x="0" y="0"/>
              <a:ext cx="2000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09" name="WINS ABOVE 50%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WINS ABOVE 50%</a:t>
              </a:r>
            </a:p>
          </p:txBody>
        </p:sp>
      </p:grpSp>
      <p:grpSp>
        <p:nvGrpSpPr>
          <p:cNvPr id="168" name=""/>
          <p:cNvGrpSpPr/>
          <p:nvPr/>
        </p:nvGrpSpPr>
        <p:grpSpPr>
          <a:xfrm rot="0">
            <a:off x="5943600" y="2981325"/>
            <a:ext cx="2000250" cy="406400"/>
            <a:chOff x="0" y="0"/>
            <a:chExt cx="2000250" cy="406400"/>
          </a:xfrm>
        </p:grpSpPr>
        <p:sp>
          <p:nvSpPr>
            <p:cNvPr id="1049010" name="Rectangle"/>
            <p:cNvSpPr/>
            <p:nvPr/>
          </p:nvSpPr>
          <p:spPr>
            <a:xfrm rot="0">
              <a:off x="0" y="0"/>
              <a:ext cx="20002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11" name="14"/>
            <p:cNvSpPr txBox="1"/>
            <p:nvPr/>
          </p:nvSpPr>
          <p:spPr>
            <a:xfrm rot="0">
              <a:off x="0" y="0"/>
              <a:ext cx="20002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14</a:t>
              </a:r>
            </a:p>
          </p:txBody>
        </p:sp>
      </p:grpSp>
      <p:grpSp>
        <p:nvGrpSpPr>
          <p:cNvPr id="169" name=""/>
          <p:cNvGrpSpPr/>
          <p:nvPr/>
        </p:nvGrpSpPr>
        <p:grpSpPr>
          <a:xfrm rot="0">
            <a:off x="5943600" y="3448050"/>
            <a:ext cx="2000250" cy="133350"/>
            <a:chOff x="0" y="0"/>
            <a:chExt cx="2000250" cy="133350"/>
          </a:xfrm>
        </p:grpSpPr>
        <p:sp>
          <p:nvSpPr>
            <p:cNvPr id="1049012" name="Rectangle"/>
            <p:cNvSpPr/>
            <p:nvPr/>
          </p:nvSpPr>
          <p:spPr>
            <a:xfrm rot="0">
              <a:off x="0" y="0"/>
              <a:ext cx="20002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13" name="down from 84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down from 84</a:t>
              </a:r>
            </a:p>
          </p:txBody>
        </p:sp>
      </p:grpSp>
      <p:sp>
        <p:nvSpPr>
          <p:cNvPr id="1049014" name="Rounded Rectangle"/>
          <p:cNvSpPr/>
          <p:nvPr/>
        </p:nvSpPr>
        <p:spPr>
          <a:xfrm rot="0">
            <a:off x="8324850" y="2571750"/>
            <a:ext cx="2324100" cy="1123950"/>
          </a:xfrm>
          <a:prstGeom prst="roundRect">
            <a:avLst>
              <a:gd name="adj" fmla="val 6778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0" name=""/>
          <p:cNvGrpSpPr/>
          <p:nvPr/>
        </p:nvGrpSpPr>
        <p:grpSpPr>
          <a:xfrm rot="0">
            <a:off x="8496300" y="2724150"/>
            <a:ext cx="2000250" cy="228600"/>
            <a:chOff x="0" y="0"/>
            <a:chExt cx="2000250" cy="228600"/>
          </a:xfrm>
        </p:grpSpPr>
        <p:sp>
          <p:nvSpPr>
            <p:cNvPr id="1049015" name="Rectangle"/>
            <p:cNvSpPr/>
            <p:nvPr/>
          </p:nvSpPr>
          <p:spPr>
            <a:xfrm rot="0">
              <a:off x="0" y="0"/>
              <a:ext cx="200025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16" name="WINS BELOW 35%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WINS BELOW 35%</a:t>
              </a:r>
            </a:p>
          </p:txBody>
        </p:sp>
      </p:grpSp>
      <p:grpSp>
        <p:nvGrpSpPr>
          <p:cNvPr id="171" name=""/>
          <p:cNvGrpSpPr/>
          <p:nvPr/>
        </p:nvGrpSpPr>
        <p:grpSpPr>
          <a:xfrm rot="0">
            <a:off x="8496300" y="2981325"/>
            <a:ext cx="2000250" cy="406400"/>
            <a:chOff x="0" y="0"/>
            <a:chExt cx="2000250" cy="406400"/>
          </a:xfrm>
        </p:grpSpPr>
        <p:sp>
          <p:nvSpPr>
            <p:cNvPr id="1049017" name="Rectangle"/>
            <p:cNvSpPr/>
            <p:nvPr/>
          </p:nvSpPr>
          <p:spPr>
            <a:xfrm rot="0">
              <a:off x="0" y="0"/>
              <a:ext cx="2000250" cy="3619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4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18" name="61"/>
            <p:cNvSpPr txBox="1"/>
            <p:nvPr/>
          </p:nvSpPr>
          <p:spPr>
            <a:xfrm rot="0">
              <a:off x="0" y="0"/>
              <a:ext cx="2000250" cy="406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4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61</a:t>
              </a:r>
            </a:p>
          </p:txBody>
        </p:sp>
      </p:grpSp>
      <p:grpSp>
        <p:nvGrpSpPr>
          <p:cNvPr id="172" name=""/>
          <p:cNvGrpSpPr/>
          <p:nvPr/>
        </p:nvGrpSpPr>
        <p:grpSpPr>
          <a:xfrm rot="0">
            <a:off x="8496300" y="3448050"/>
            <a:ext cx="2000250" cy="133350"/>
            <a:chOff x="0" y="0"/>
            <a:chExt cx="2000250" cy="133350"/>
          </a:xfrm>
        </p:grpSpPr>
        <p:sp>
          <p:nvSpPr>
            <p:cNvPr id="1049019" name="Rectangle"/>
            <p:cNvSpPr/>
            <p:nvPr/>
          </p:nvSpPr>
          <p:spPr>
            <a:xfrm rot="0">
              <a:off x="0" y="0"/>
              <a:ext cx="200025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20" name="up from 2"/>
            <p:cNvSpPr txBox="1"/>
            <p:nvPr/>
          </p:nvSpPr>
          <p:spPr>
            <a:xfrm rot="0">
              <a:off x="0" y="0"/>
              <a:ext cx="2000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up from 2</a:t>
              </a:r>
            </a:p>
          </p:txBody>
        </p:sp>
      </p:grpSp>
      <p:sp>
        <p:nvSpPr>
          <p:cNvPr id="1049021" name="Rounded Rectangle"/>
          <p:cNvSpPr/>
          <p:nvPr/>
        </p:nvSpPr>
        <p:spPr>
          <a:xfrm rot="0">
            <a:off x="876300" y="4229100"/>
            <a:ext cx="9906000" cy="1352550"/>
          </a:xfrm>
          <a:prstGeom prst="roundRect">
            <a:avLst>
              <a:gd name="adj" fmla="val 5634"/>
            </a:avLst>
          </a:prstGeom>
          <a:solidFill>
            <a:srgbClr val="F7EFE5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22" name="Rectangle"/>
          <p:cNvSpPr/>
          <p:nvPr/>
        </p:nvSpPr>
        <p:spPr>
          <a:xfrm rot="0">
            <a:off x="1238250" y="5251450"/>
            <a:ext cx="419100" cy="12700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23" name="Rectangle"/>
          <p:cNvSpPr/>
          <p:nvPr/>
        </p:nvSpPr>
        <p:spPr>
          <a:xfrm rot="0">
            <a:off x="1695450" y="5241925"/>
            <a:ext cx="419100" cy="15875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3" name=""/>
          <p:cNvGrpSpPr/>
          <p:nvPr/>
        </p:nvGrpSpPr>
        <p:grpSpPr>
          <a:xfrm rot="0">
            <a:off x="1200150" y="5334000"/>
            <a:ext cx="914400" cy="133350"/>
            <a:chOff x="0" y="0"/>
            <a:chExt cx="914400" cy="133350"/>
          </a:xfrm>
        </p:grpSpPr>
        <p:sp>
          <p:nvSpPr>
            <p:cNvPr id="1049024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25" name="&lt;30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&lt;30%</a:t>
              </a:r>
            </a:p>
          </p:txBody>
        </p:sp>
      </p:grpSp>
      <p:sp>
        <p:nvSpPr>
          <p:cNvPr id="1049026" name="Rectangle"/>
          <p:cNvSpPr/>
          <p:nvPr/>
        </p:nvSpPr>
        <p:spPr>
          <a:xfrm rot="0">
            <a:off x="2190750" y="5241925"/>
            <a:ext cx="419100" cy="15875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27" name="Rectangle"/>
          <p:cNvSpPr/>
          <p:nvPr/>
        </p:nvSpPr>
        <p:spPr>
          <a:xfrm rot="0">
            <a:off x="2647950" y="4808537"/>
            <a:ext cx="419100" cy="449262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4" name=""/>
          <p:cNvGrpSpPr/>
          <p:nvPr/>
        </p:nvGrpSpPr>
        <p:grpSpPr>
          <a:xfrm rot="0">
            <a:off x="2152650" y="5334000"/>
            <a:ext cx="914400" cy="133350"/>
            <a:chOff x="0" y="0"/>
            <a:chExt cx="914400" cy="133350"/>
          </a:xfrm>
        </p:grpSpPr>
        <p:sp>
          <p:nvSpPr>
            <p:cNvPr id="1049028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29" name="30-35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30-35%</a:t>
              </a:r>
            </a:p>
          </p:txBody>
        </p:sp>
      </p:grpSp>
      <p:sp>
        <p:nvSpPr>
          <p:cNvPr id="1049030" name="Rectangle"/>
          <p:cNvSpPr/>
          <p:nvPr/>
        </p:nvSpPr>
        <p:spPr>
          <a:xfrm rot="0">
            <a:off x="3143250" y="5173662"/>
            <a:ext cx="419100" cy="84137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31" name="Rectangle"/>
          <p:cNvSpPr/>
          <p:nvPr/>
        </p:nvSpPr>
        <p:spPr>
          <a:xfrm rot="0">
            <a:off x="3600450" y="4579937"/>
            <a:ext cx="419100" cy="677862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5" name=""/>
          <p:cNvGrpSpPr/>
          <p:nvPr/>
        </p:nvGrpSpPr>
        <p:grpSpPr>
          <a:xfrm rot="0">
            <a:off x="3105150" y="5334000"/>
            <a:ext cx="914400" cy="133350"/>
            <a:chOff x="0" y="0"/>
            <a:chExt cx="914400" cy="133350"/>
          </a:xfrm>
        </p:grpSpPr>
        <p:sp>
          <p:nvSpPr>
            <p:cNvPr id="1049032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33" name="35-40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35-40%</a:t>
              </a:r>
            </a:p>
          </p:txBody>
        </p:sp>
      </p:grpSp>
      <p:sp>
        <p:nvSpPr>
          <p:cNvPr id="1049034" name="Rectangle"/>
          <p:cNvSpPr/>
          <p:nvPr/>
        </p:nvSpPr>
        <p:spPr>
          <a:xfrm rot="0">
            <a:off x="4095750" y="4983162"/>
            <a:ext cx="419100" cy="274637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35" name="Rectangle"/>
          <p:cNvSpPr/>
          <p:nvPr/>
        </p:nvSpPr>
        <p:spPr>
          <a:xfrm rot="0">
            <a:off x="4552950" y="4868862"/>
            <a:ext cx="419100" cy="388937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6" name=""/>
          <p:cNvGrpSpPr/>
          <p:nvPr/>
        </p:nvGrpSpPr>
        <p:grpSpPr>
          <a:xfrm rot="0">
            <a:off x="4057650" y="5334000"/>
            <a:ext cx="914400" cy="133350"/>
            <a:chOff x="0" y="0"/>
            <a:chExt cx="914400" cy="133350"/>
          </a:xfrm>
        </p:grpSpPr>
        <p:sp>
          <p:nvSpPr>
            <p:cNvPr id="1049036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37" name="40-45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40-45%</a:t>
              </a:r>
            </a:p>
          </p:txBody>
        </p:sp>
      </p:grpSp>
      <p:sp>
        <p:nvSpPr>
          <p:cNvPr id="1049038" name="Rectangle"/>
          <p:cNvSpPr/>
          <p:nvPr/>
        </p:nvSpPr>
        <p:spPr>
          <a:xfrm rot="0">
            <a:off x="5048250" y="4487862"/>
            <a:ext cx="419100" cy="769937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39" name="Rectangle"/>
          <p:cNvSpPr/>
          <p:nvPr/>
        </p:nvSpPr>
        <p:spPr>
          <a:xfrm rot="0">
            <a:off x="5505450" y="5113337"/>
            <a:ext cx="419100" cy="144462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7" name=""/>
          <p:cNvGrpSpPr/>
          <p:nvPr/>
        </p:nvGrpSpPr>
        <p:grpSpPr>
          <a:xfrm rot="0">
            <a:off x="5010150" y="5334000"/>
            <a:ext cx="914400" cy="133350"/>
            <a:chOff x="0" y="0"/>
            <a:chExt cx="914400" cy="133350"/>
          </a:xfrm>
        </p:grpSpPr>
        <p:sp>
          <p:nvSpPr>
            <p:cNvPr id="1049040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41" name="45-50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45-50%</a:t>
              </a:r>
            </a:p>
          </p:txBody>
        </p:sp>
      </p:grpSp>
      <p:sp>
        <p:nvSpPr>
          <p:cNvPr id="1049042" name="Rectangle"/>
          <p:cNvSpPr/>
          <p:nvPr/>
        </p:nvSpPr>
        <p:spPr>
          <a:xfrm rot="0">
            <a:off x="6000750" y="4784725"/>
            <a:ext cx="419100" cy="473075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43" name="Rectangle"/>
          <p:cNvSpPr/>
          <p:nvPr/>
        </p:nvSpPr>
        <p:spPr>
          <a:xfrm rot="0">
            <a:off x="6457950" y="5165725"/>
            <a:ext cx="419100" cy="92075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8" name=""/>
          <p:cNvGrpSpPr/>
          <p:nvPr/>
        </p:nvGrpSpPr>
        <p:grpSpPr>
          <a:xfrm rot="0">
            <a:off x="5962650" y="5334000"/>
            <a:ext cx="914400" cy="133350"/>
            <a:chOff x="0" y="0"/>
            <a:chExt cx="914400" cy="133350"/>
          </a:xfrm>
        </p:grpSpPr>
        <p:sp>
          <p:nvSpPr>
            <p:cNvPr id="1049044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45" name="50-55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50-55%</a:t>
              </a:r>
            </a:p>
          </p:txBody>
        </p:sp>
      </p:grpSp>
      <p:sp>
        <p:nvSpPr>
          <p:cNvPr id="1049046" name="Rectangle"/>
          <p:cNvSpPr/>
          <p:nvPr/>
        </p:nvSpPr>
        <p:spPr>
          <a:xfrm rot="0">
            <a:off x="6953250" y="5159375"/>
            <a:ext cx="419100" cy="98425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47" name="Rectangle"/>
          <p:cNvSpPr/>
          <p:nvPr/>
        </p:nvSpPr>
        <p:spPr>
          <a:xfrm rot="0">
            <a:off x="7410450" y="5241925"/>
            <a:ext cx="419100" cy="15875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79" name=""/>
          <p:cNvGrpSpPr/>
          <p:nvPr/>
        </p:nvGrpSpPr>
        <p:grpSpPr>
          <a:xfrm rot="0">
            <a:off x="6915150" y="5334000"/>
            <a:ext cx="914400" cy="133350"/>
            <a:chOff x="0" y="0"/>
            <a:chExt cx="914400" cy="133350"/>
          </a:xfrm>
        </p:grpSpPr>
        <p:sp>
          <p:nvSpPr>
            <p:cNvPr id="1049048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49" name="55-60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55-60%</a:t>
              </a:r>
            </a:p>
          </p:txBody>
        </p:sp>
      </p:grpSp>
      <p:sp>
        <p:nvSpPr>
          <p:cNvPr id="1049050" name="Rectangle"/>
          <p:cNvSpPr/>
          <p:nvPr/>
        </p:nvSpPr>
        <p:spPr>
          <a:xfrm rot="0">
            <a:off x="7905750" y="5189537"/>
            <a:ext cx="419100" cy="68262"/>
          </a:xfrm>
          <a:prstGeom prst="rect"/>
          <a:solidFill>
            <a:srgbClr val="8D8A83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51" name="Rectangle"/>
          <p:cNvSpPr/>
          <p:nvPr/>
        </p:nvSpPr>
        <p:spPr>
          <a:xfrm rot="0">
            <a:off x="8362950" y="5251450"/>
            <a:ext cx="419100" cy="12700"/>
          </a:xfrm>
          <a:prstGeom prst="rect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80" name=""/>
          <p:cNvGrpSpPr/>
          <p:nvPr/>
        </p:nvGrpSpPr>
        <p:grpSpPr>
          <a:xfrm rot="0">
            <a:off x="7867650" y="5334000"/>
            <a:ext cx="914400" cy="133350"/>
            <a:chOff x="0" y="0"/>
            <a:chExt cx="914400" cy="133350"/>
          </a:xfrm>
        </p:grpSpPr>
        <p:sp>
          <p:nvSpPr>
            <p:cNvPr id="1049052" name="Rectangle"/>
            <p:cNvSpPr/>
            <p:nvPr/>
          </p:nvSpPr>
          <p:spPr>
            <a:xfrm rot="0">
              <a:off x="0" y="0"/>
              <a:ext cx="914400" cy="1333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endParaRPr b="1" sz="6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53" name="&gt;60%"/>
            <p:cNvSpPr txBox="1"/>
            <p:nvPr/>
          </p:nvSpPr>
          <p:spPr>
            <a:xfrm rot="0">
              <a:off x="0" y="0"/>
              <a:ext cx="914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ctr" eaLnBrk="1" lvl="0"/>
              <a:r>
                <a:rPr b="1" sz="6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&gt;60%</a:t>
              </a:r>
            </a:p>
          </p:txBody>
        </p:sp>
      </p:grpSp>
      <p:grpSp>
        <p:nvGrpSpPr>
          <p:cNvPr id="181" name=""/>
          <p:cNvGrpSpPr/>
          <p:nvPr/>
        </p:nvGrpSpPr>
        <p:grpSpPr>
          <a:xfrm rot="0">
            <a:off x="1085850" y="4400550"/>
            <a:ext cx="3429000" cy="171450"/>
            <a:chOff x="0" y="0"/>
            <a:chExt cx="3429000" cy="171450"/>
          </a:xfrm>
        </p:grpSpPr>
        <p:sp>
          <p:nvSpPr>
            <p:cNvPr id="1049054" name="Rectangle"/>
            <p:cNvSpPr/>
            <p:nvPr/>
          </p:nvSpPr>
          <p:spPr>
            <a:xfrm rot="0">
              <a:off x="0" y="0"/>
              <a:ext cx="3429000" cy="1714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55" name="Winner vote-share distribution: 2021 grey vs 2026 brown"/>
            <p:cNvSpPr txBox="1"/>
            <p:nvPr/>
          </p:nvSpPr>
          <p:spPr>
            <a:xfrm rot="0">
              <a:off x="0" y="0"/>
              <a:ext cx="342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Winner vote-share distribution: 2021 grey vs 2026 brown</a:t>
              </a:r>
            </a:p>
          </p:txBody>
        </p:sp>
      </p:grpSp>
    </p:spTree>
  </p:cSld>
  <p:clrMapOvr>
    <a:masterClrMapping/>
  </p:clrMapOvr>
  <p:transition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56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57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58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059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83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9060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61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184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9062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63" name="08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08</a:t>
              </a:r>
            </a:p>
          </p:txBody>
        </p:sp>
      </p:grpSp>
      <p:sp>
        <p:nvSpPr>
          <p:cNvPr id="1049064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85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9065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66" name="CONSTITUENCY RISK LENS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CONSTITUENCY RISK LENS</a:t>
              </a:r>
            </a:p>
          </p:txBody>
        </p:sp>
      </p:grpSp>
      <p:grpSp>
        <p:nvGrpSpPr>
          <p:cNvPr id="186" name=""/>
          <p:cNvGrpSpPr/>
          <p:nvPr/>
        </p:nvGrpSpPr>
        <p:grpSpPr>
          <a:xfrm rot="0">
            <a:off x="552450" y="704850"/>
            <a:ext cx="8382000" cy="1041400"/>
            <a:chOff x="0" y="0"/>
            <a:chExt cx="8382000" cy="1041400"/>
          </a:xfrm>
        </p:grpSpPr>
        <p:sp>
          <p:nvSpPr>
            <p:cNvPr id="1049067" name="Rectangle"/>
            <p:cNvSpPr/>
            <p:nvPr/>
          </p:nvSpPr>
          <p:spPr>
            <a:xfrm rot="0">
              <a:off x="0" y="0"/>
              <a:ext cx="83820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068" name="Close races and landslides both become reusable content assets."/>
            <p:cNvSpPr txBox="1"/>
            <p:nvPr/>
          </p:nvSpPr>
          <p:spPr>
            <a:xfrm rot="0">
              <a:off x="0" y="0"/>
              <a:ext cx="838200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Close races and landslides both become reusable content assets.</a:t>
              </a:r>
            </a:p>
          </p:txBody>
        </p:sp>
      </p:grpSp>
      <p:grpSp>
        <p:nvGrpSpPr>
          <p:cNvPr id="187" name=""/>
          <p:cNvGrpSpPr/>
          <p:nvPr/>
        </p:nvGrpSpPr>
        <p:grpSpPr>
          <a:xfrm rot="0">
            <a:off x="609600" y="1695450"/>
            <a:ext cx="7429500" cy="495300"/>
            <a:chOff x="0" y="0"/>
            <a:chExt cx="7429500" cy="495300"/>
          </a:xfrm>
        </p:grpSpPr>
        <p:sp>
          <p:nvSpPr>
            <p:cNvPr id="1049069" name="Rectangle"/>
            <p:cNvSpPr/>
            <p:nvPr/>
          </p:nvSpPr>
          <p:spPr>
            <a:xfrm rot="0">
              <a:off x="0" y="0"/>
              <a:ext cx="7429500" cy="4953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70" name="Leadership can convert the margin story into recurring formats: closest-seat alerts, decisive-seat profiles, and volatility rankings by region."/>
            <p:cNvSpPr txBox="1"/>
            <p:nvPr/>
          </p:nvSpPr>
          <p:spPr>
            <a:xfrm rot="0">
              <a:off x="0" y="0"/>
              <a:ext cx="7429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Leadership can convert the margin story into recurring formats: closest-seat alerts, decisive-seat profiles, and volatility rankings by region.</a:t>
              </a:r>
            </a:p>
          </p:txBody>
        </p:sp>
      </p:grpSp>
      <p:sp>
        <p:nvSpPr>
          <p:cNvPr id="1049071" name="Rounded Rectangle"/>
          <p:cNvSpPr/>
          <p:nvPr/>
        </p:nvSpPr>
        <p:spPr>
          <a:xfrm rot="0">
            <a:off x="666750" y="2571750"/>
            <a:ext cx="4953000" cy="2800350"/>
          </a:xfrm>
          <a:prstGeom prst="roundRect">
            <a:avLst>
              <a:gd name="adj" fmla="val 2722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88" name=""/>
          <p:cNvGrpSpPr/>
          <p:nvPr/>
        </p:nvGrpSpPr>
        <p:grpSpPr>
          <a:xfrm rot="0">
            <a:off x="895350" y="2800350"/>
            <a:ext cx="2667000" cy="190500"/>
            <a:chOff x="0" y="0"/>
            <a:chExt cx="2667000" cy="190500"/>
          </a:xfrm>
        </p:grpSpPr>
        <p:sp>
          <p:nvSpPr>
            <p:cNvPr id="1049072" name="Rectangle"/>
            <p:cNvSpPr/>
            <p:nvPr/>
          </p:nvSpPr>
          <p:spPr>
            <a:xfrm rot="0">
              <a:off x="0" y="0"/>
              <a:ext cx="266700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73" name="TIGHTEST FINISHES IN 2026"/>
            <p:cNvSpPr txBox="1"/>
            <p:nvPr/>
          </p:nvSpPr>
          <p:spPr>
            <a:xfrm rot="0">
              <a:off x="0" y="0"/>
              <a:ext cx="2667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TIGHTEST FINISHES IN 2026</a:t>
              </a:r>
            </a:p>
          </p:txBody>
        </p:sp>
      </p:grpSp>
      <p:sp>
        <p:nvSpPr>
          <p:cNvPr id="1049074" name="Rounded Rectangle"/>
          <p:cNvSpPr/>
          <p:nvPr/>
        </p:nvSpPr>
        <p:spPr>
          <a:xfrm rot="0">
            <a:off x="895350" y="3105150"/>
            <a:ext cx="4286250" cy="285750"/>
          </a:xfrm>
          <a:prstGeom prst="roundRect">
            <a:avLst>
              <a:gd name="adj" fmla="val 26667"/>
            </a:avLst>
          </a:prstGeom>
          <a:solidFill>
            <a:srgbClr val="4F3829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89" name=""/>
          <p:cNvGrpSpPr/>
          <p:nvPr/>
        </p:nvGrpSpPr>
        <p:grpSpPr>
          <a:xfrm rot="0">
            <a:off x="990600" y="3181350"/>
            <a:ext cx="919162" cy="152400"/>
            <a:chOff x="0" y="0"/>
            <a:chExt cx="919162" cy="152400"/>
          </a:xfrm>
        </p:grpSpPr>
        <p:sp>
          <p:nvSpPr>
            <p:cNvPr id="1049075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76" name="SEAT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SEAT</a:t>
              </a:r>
            </a:p>
          </p:txBody>
        </p:sp>
      </p:grpSp>
      <p:grpSp>
        <p:nvGrpSpPr>
          <p:cNvPr id="190" name=""/>
          <p:cNvGrpSpPr/>
          <p:nvPr/>
        </p:nvGrpSpPr>
        <p:grpSpPr>
          <a:xfrm rot="0">
            <a:off x="2062162" y="3181350"/>
            <a:ext cx="919162" cy="152400"/>
            <a:chOff x="0" y="0"/>
            <a:chExt cx="919162" cy="152400"/>
          </a:xfrm>
        </p:grpSpPr>
        <p:sp>
          <p:nvSpPr>
            <p:cNvPr id="1049077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78" name="WINNE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WINNER</a:t>
              </a:r>
            </a:p>
          </p:txBody>
        </p:sp>
      </p:grpSp>
      <p:grpSp>
        <p:nvGrpSpPr>
          <p:cNvPr id="191" name=""/>
          <p:cNvGrpSpPr/>
          <p:nvPr/>
        </p:nvGrpSpPr>
        <p:grpSpPr>
          <a:xfrm rot="0">
            <a:off x="3133725" y="3181350"/>
            <a:ext cx="919162" cy="152400"/>
            <a:chOff x="0" y="0"/>
            <a:chExt cx="919162" cy="152400"/>
          </a:xfrm>
        </p:grpSpPr>
        <p:sp>
          <p:nvSpPr>
            <p:cNvPr id="1049079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80" name="MARGIN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MARGIN</a:t>
              </a:r>
            </a:p>
          </p:txBody>
        </p:sp>
      </p:grpSp>
      <p:grpSp>
        <p:nvGrpSpPr>
          <p:cNvPr id="192" name=""/>
          <p:cNvGrpSpPr/>
          <p:nvPr/>
        </p:nvGrpSpPr>
        <p:grpSpPr>
          <a:xfrm rot="0">
            <a:off x="4205287" y="3181350"/>
            <a:ext cx="919162" cy="152400"/>
            <a:chOff x="0" y="0"/>
            <a:chExt cx="919162" cy="152400"/>
          </a:xfrm>
        </p:grpSpPr>
        <p:sp>
          <p:nvSpPr>
            <p:cNvPr id="1049081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82" name="VOTE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VOTE%</a:t>
              </a:r>
            </a:p>
          </p:txBody>
        </p:sp>
      </p:grpSp>
      <p:sp>
        <p:nvSpPr>
          <p:cNvPr id="1049083" name="Rectangle"/>
          <p:cNvSpPr/>
          <p:nvPr/>
        </p:nvSpPr>
        <p:spPr>
          <a:xfrm rot="0">
            <a:off x="895350" y="34290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93" name=""/>
          <p:cNvGrpSpPr/>
          <p:nvPr/>
        </p:nvGrpSpPr>
        <p:grpSpPr>
          <a:xfrm rot="0">
            <a:off x="990600" y="3505200"/>
            <a:ext cx="919162" cy="152400"/>
            <a:chOff x="0" y="0"/>
            <a:chExt cx="919162" cy="152400"/>
          </a:xfrm>
        </p:grpSpPr>
        <p:sp>
          <p:nvSpPr>
            <p:cNvPr id="104908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85" name="Tiruppattu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Tiruppattur</a:t>
              </a:r>
            </a:p>
          </p:txBody>
        </p:sp>
      </p:grpSp>
      <p:grpSp>
        <p:nvGrpSpPr>
          <p:cNvPr id="194" name=""/>
          <p:cNvGrpSpPr/>
          <p:nvPr/>
        </p:nvGrpSpPr>
        <p:grpSpPr>
          <a:xfrm rot="0">
            <a:off x="2062162" y="3505200"/>
            <a:ext cx="919162" cy="152400"/>
            <a:chOff x="0" y="0"/>
            <a:chExt cx="919162" cy="152400"/>
          </a:xfrm>
        </p:grpSpPr>
        <p:sp>
          <p:nvSpPr>
            <p:cNvPr id="1049086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87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195" name=""/>
          <p:cNvGrpSpPr/>
          <p:nvPr/>
        </p:nvGrpSpPr>
        <p:grpSpPr>
          <a:xfrm rot="0">
            <a:off x="3133725" y="3505200"/>
            <a:ext cx="919162" cy="152400"/>
            <a:chOff x="0" y="0"/>
            <a:chExt cx="919162" cy="152400"/>
          </a:xfrm>
        </p:grpSpPr>
        <p:sp>
          <p:nvSpPr>
            <p:cNvPr id="1049088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89" name="1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</a:t>
              </a:r>
            </a:p>
          </p:txBody>
        </p:sp>
      </p:grpSp>
      <p:grpSp>
        <p:nvGrpSpPr>
          <p:cNvPr id="196" name=""/>
          <p:cNvGrpSpPr/>
          <p:nvPr/>
        </p:nvGrpSpPr>
        <p:grpSpPr>
          <a:xfrm rot="0">
            <a:off x="4205287" y="3505200"/>
            <a:ext cx="919162" cy="152400"/>
            <a:chOff x="0" y="0"/>
            <a:chExt cx="919162" cy="152400"/>
          </a:xfrm>
        </p:grpSpPr>
        <p:sp>
          <p:nvSpPr>
            <p:cNvPr id="1049090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91" name="38.8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38.8%</a:t>
              </a:r>
            </a:p>
          </p:txBody>
        </p:sp>
      </p:grpSp>
      <p:sp>
        <p:nvSpPr>
          <p:cNvPr id="1049092" name="Rectangle"/>
          <p:cNvSpPr/>
          <p:nvPr/>
        </p:nvSpPr>
        <p:spPr>
          <a:xfrm rot="0">
            <a:off x="895350" y="3714750"/>
            <a:ext cx="4286250" cy="266700"/>
          </a:xfrm>
          <a:prstGeom prst="rect"/>
          <a:solidFill>
            <a:srgbClr val="FFFDF8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197" name=""/>
          <p:cNvGrpSpPr/>
          <p:nvPr/>
        </p:nvGrpSpPr>
        <p:grpSpPr>
          <a:xfrm rot="0">
            <a:off x="990600" y="3790950"/>
            <a:ext cx="919162" cy="152400"/>
            <a:chOff x="0" y="0"/>
            <a:chExt cx="919162" cy="152400"/>
          </a:xfrm>
        </p:grpSpPr>
        <p:sp>
          <p:nvSpPr>
            <p:cNvPr id="1049093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94" name="Veppanahalli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Veppanahalli</a:t>
              </a:r>
            </a:p>
          </p:txBody>
        </p:sp>
      </p:grpSp>
      <p:grpSp>
        <p:nvGrpSpPr>
          <p:cNvPr id="198" name=""/>
          <p:cNvGrpSpPr/>
          <p:nvPr/>
        </p:nvGrpSpPr>
        <p:grpSpPr>
          <a:xfrm rot="0">
            <a:off x="2062162" y="3790950"/>
            <a:ext cx="919162" cy="152400"/>
            <a:chOff x="0" y="0"/>
            <a:chExt cx="919162" cy="152400"/>
          </a:xfrm>
        </p:grpSpPr>
        <p:sp>
          <p:nvSpPr>
            <p:cNvPr id="1049095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96" name="DM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DMK</a:t>
              </a:r>
            </a:p>
          </p:txBody>
        </p:sp>
      </p:grpSp>
      <p:grpSp>
        <p:nvGrpSpPr>
          <p:cNvPr id="199" name=""/>
          <p:cNvGrpSpPr/>
          <p:nvPr/>
        </p:nvGrpSpPr>
        <p:grpSpPr>
          <a:xfrm rot="0">
            <a:off x="3133725" y="3790950"/>
            <a:ext cx="919162" cy="152400"/>
            <a:chOff x="0" y="0"/>
            <a:chExt cx="919162" cy="152400"/>
          </a:xfrm>
        </p:grpSpPr>
        <p:sp>
          <p:nvSpPr>
            <p:cNvPr id="1049097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098" name="138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138</a:t>
              </a:r>
            </a:p>
          </p:txBody>
        </p:sp>
      </p:grpSp>
      <p:grpSp>
        <p:nvGrpSpPr>
          <p:cNvPr id="200" name=""/>
          <p:cNvGrpSpPr/>
          <p:nvPr/>
        </p:nvGrpSpPr>
        <p:grpSpPr>
          <a:xfrm rot="0">
            <a:off x="4205287" y="3790950"/>
            <a:ext cx="919162" cy="152400"/>
            <a:chOff x="0" y="0"/>
            <a:chExt cx="919162" cy="152400"/>
          </a:xfrm>
        </p:grpSpPr>
        <p:sp>
          <p:nvSpPr>
            <p:cNvPr id="1049099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00" name="33.8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33.8%</a:t>
              </a:r>
            </a:p>
          </p:txBody>
        </p:sp>
      </p:grpSp>
      <p:sp>
        <p:nvSpPr>
          <p:cNvPr id="1049101" name="Rectangle"/>
          <p:cNvSpPr/>
          <p:nvPr/>
        </p:nvSpPr>
        <p:spPr>
          <a:xfrm rot="0">
            <a:off x="895350" y="40005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01" name=""/>
          <p:cNvGrpSpPr/>
          <p:nvPr/>
        </p:nvGrpSpPr>
        <p:grpSpPr>
          <a:xfrm rot="0">
            <a:off x="990600" y="4076700"/>
            <a:ext cx="919162" cy="152400"/>
            <a:chOff x="0" y="0"/>
            <a:chExt cx="919162" cy="152400"/>
          </a:xfrm>
        </p:grpSpPr>
        <p:sp>
          <p:nvSpPr>
            <p:cNvPr id="1049102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03" name="Kanniyakumari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Kanniyakumari</a:t>
              </a:r>
            </a:p>
          </p:txBody>
        </p:sp>
      </p:grpSp>
      <p:grpSp>
        <p:nvGrpSpPr>
          <p:cNvPr id="202" name=""/>
          <p:cNvGrpSpPr/>
          <p:nvPr/>
        </p:nvGrpSpPr>
        <p:grpSpPr>
          <a:xfrm rot="0">
            <a:off x="2062162" y="4076700"/>
            <a:ext cx="919162" cy="152400"/>
            <a:chOff x="0" y="0"/>
            <a:chExt cx="919162" cy="152400"/>
          </a:xfrm>
        </p:grpSpPr>
        <p:sp>
          <p:nvSpPr>
            <p:cNvPr id="104910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05" name="AIADM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grpSp>
        <p:nvGrpSpPr>
          <p:cNvPr id="203" name=""/>
          <p:cNvGrpSpPr/>
          <p:nvPr/>
        </p:nvGrpSpPr>
        <p:grpSpPr>
          <a:xfrm rot="0">
            <a:off x="3133725" y="4076700"/>
            <a:ext cx="919162" cy="152400"/>
            <a:chOff x="0" y="0"/>
            <a:chExt cx="919162" cy="152400"/>
          </a:xfrm>
        </p:grpSpPr>
        <p:sp>
          <p:nvSpPr>
            <p:cNvPr id="1049106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07" name="214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214</a:t>
              </a:r>
            </a:p>
          </p:txBody>
        </p:sp>
      </p:grpSp>
      <p:grpSp>
        <p:nvGrpSpPr>
          <p:cNvPr id="204" name=""/>
          <p:cNvGrpSpPr/>
          <p:nvPr/>
        </p:nvGrpSpPr>
        <p:grpSpPr>
          <a:xfrm rot="0">
            <a:off x="4205287" y="4076700"/>
            <a:ext cx="919162" cy="152400"/>
            <a:chOff x="0" y="0"/>
            <a:chExt cx="919162" cy="152400"/>
          </a:xfrm>
        </p:grpSpPr>
        <p:sp>
          <p:nvSpPr>
            <p:cNvPr id="1049108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09" name="31.5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31.5%</a:t>
              </a:r>
            </a:p>
          </p:txBody>
        </p:sp>
      </p:grpSp>
      <p:sp>
        <p:nvSpPr>
          <p:cNvPr id="1049110" name="Rectangle"/>
          <p:cNvSpPr/>
          <p:nvPr/>
        </p:nvSpPr>
        <p:spPr>
          <a:xfrm rot="0">
            <a:off x="895350" y="4286250"/>
            <a:ext cx="4286250" cy="266700"/>
          </a:xfrm>
          <a:prstGeom prst="rect"/>
          <a:solidFill>
            <a:srgbClr val="FFFDF8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05" name=""/>
          <p:cNvGrpSpPr/>
          <p:nvPr/>
        </p:nvGrpSpPr>
        <p:grpSpPr>
          <a:xfrm rot="0">
            <a:off x="990600" y="4362450"/>
            <a:ext cx="919162" cy="152400"/>
            <a:chOff x="0" y="0"/>
            <a:chExt cx="919162" cy="152400"/>
          </a:xfrm>
        </p:grpSpPr>
        <p:sp>
          <p:nvSpPr>
            <p:cNvPr id="1049111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12" name="Polu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Polur</a:t>
              </a:r>
            </a:p>
          </p:txBody>
        </p:sp>
      </p:grpSp>
      <p:grpSp>
        <p:nvGrpSpPr>
          <p:cNvPr id="206" name=""/>
          <p:cNvGrpSpPr/>
          <p:nvPr/>
        </p:nvGrpSpPr>
        <p:grpSpPr>
          <a:xfrm rot="0">
            <a:off x="2062162" y="4362450"/>
            <a:ext cx="919162" cy="152400"/>
            <a:chOff x="0" y="0"/>
            <a:chExt cx="919162" cy="152400"/>
          </a:xfrm>
        </p:grpSpPr>
        <p:sp>
          <p:nvSpPr>
            <p:cNvPr id="1049113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14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207" name=""/>
          <p:cNvGrpSpPr/>
          <p:nvPr/>
        </p:nvGrpSpPr>
        <p:grpSpPr>
          <a:xfrm rot="0">
            <a:off x="3133725" y="4362450"/>
            <a:ext cx="919162" cy="152400"/>
            <a:chOff x="0" y="0"/>
            <a:chExt cx="919162" cy="152400"/>
          </a:xfrm>
        </p:grpSpPr>
        <p:sp>
          <p:nvSpPr>
            <p:cNvPr id="1049115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16" name="227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227</a:t>
              </a:r>
            </a:p>
          </p:txBody>
        </p:sp>
      </p:grpSp>
      <p:grpSp>
        <p:nvGrpSpPr>
          <p:cNvPr id="208" name=""/>
          <p:cNvGrpSpPr/>
          <p:nvPr/>
        </p:nvGrpSpPr>
        <p:grpSpPr>
          <a:xfrm rot="0">
            <a:off x="4205287" y="4362450"/>
            <a:ext cx="919162" cy="152400"/>
            <a:chOff x="0" y="0"/>
            <a:chExt cx="919162" cy="152400"/>
          </a:xfrm>
        </p:grpSpPr>
        <p:sp>
          <p:nvSpPr>
            <p:cNvPr id="1049117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18" name="32.2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32.2%</a:t>
              </a:r>
            </a:p>
          </p:txBody>
        </p:sp>
      </p:grpSp>
      <p:sp>
        <p:nvSpPr>
          <p:cNvPr id="1049119" name="Rectangle"/>
          <p:cNvSpPr/>
          <p:nvPr/>
        </p:nvSpPr>
        <p:spPr>
          <a:xfrm rot="0">
            <a:off x="895350" y="45720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09" name=""/>
          <p:cNvGrpSpPr/>
          <p:nvPr/>
        </p:nvGrpSpPr>
        <p:grpSpPr>
          <a:xfrm rot="0">
            <a:off x="990600" y="4648200"/>
            <a:ext cx="919162" cy="152400"/>
            <a:chOff x="0" y="0"/>
            <a:chExt cx="919162" cy="152400"/>
          </a:xfrm>
        </p:grpSpPr>
        <p:sp>
          <p:nvSpPr>
            <p:cNvPr id="1049120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21" name="Tirukkoyilu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Tirukkoyilur</a:t>
              </a:r>
            </a:p>
          </p:txBody>
        </p:sp>
      </p:grpSp>
      <p:grpSp>
        <p:nvGrpSpPr>
          <p:cNvPr id="210" name=""/>
          <p:cNvGrpSpPr/>
          <p:nvPr/>
        </p:nvGrpSpPr>
        <p:grpSpPr>
          <a:xfrm rot="0">
            <a:off x="2062162" y="4648200"/>
            <a:ext cx="919162" cy="152400"/>
            <a:chOff x="0" y="0"/>
            <a:chExt cx="919162" cy="152400"/>
          </a:xfrm>
        </p:grpSpPr>
        <p:sp>
          <p:nvSpPr>
            <p:cNvPr id="1049122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23" name="AIADM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grpSp>
        <p:nvGrpSpPr>
          <p:cNvPr id="211" name=""/>
          <p:cNvGrpSpPr/>
          <p:nvPr/>
        </p:nvGrpSpPr>
        <p:grpSpPr>
          <a:xfrm rot="0">
            <a:off x="3133725" y="4648200"/>
            <a:ext cx="919162" cy="152400"/>
            <a:chOff x="0" y="0"/>
            <a:chExt cx="919162" cy="152400"/>
          </a:xfrm>
        </p:grpSpPr>
        <p:sp>
          <p:nvSpPr>
            <p:cNvPr id="104912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25" name="285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285</a:t>
              </a:r>
            </a:p>
          </p:txBody>
        </p:sp>
      </p:grpSp>
      <p:grpSp>
        <p:nvGrpSpPr>
          <p:cNvPr id="212" name=""/>
          <p:cNvGrpSpPr/>
          <p:nvPr/>
        </p:nvGrpSpPr>
        <p:grpSpPr>
          <a:xfrm rot="0">
            <a:off x="4205287" y="4648200"/>
            <a:ext cx="919162" cy="152400"/>
            <a:chOff x="0" y="0"/>
            <a:chExt cx="919162" cy="152400"/>
          </a:xfrm>
        </p:grpSpPr>
        <p:sp>
          <p:nvSpPr>
            <p:cNvPr id="1049126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27" name="33.7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33.7%</a:t>
              </a:r>
            </a:p>
          </p:txBody>
        </p:sp>
      </p:grpSp>
      <p:sp>
        <p:nvSpPr>
          <p:cNvPr id="1049128" name="Rounded Rectangle"/>
          <p:cNvSpPr/>
          <p:nvPr/>
        </p:nvSpPr>
        <p:spPr>
          <a:xfrm rot="0">
            <a:off x="6286500" y="2571750"/>
            <a:ext cx="4953000" cy="2800350"/>
          </a:xfrm>
          <a:prstGeom prst="roundRect">
            <a:avLst>
              <a:gd name="adj" fmla="val 2722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13" name=""/>
          <p:cNvGrpSpPr/>
          <p:nvPr/>
        </p:nvGrpSpPr>
        <p:grpSpPr>
          <a:xfrm rot="0">
            <a:off x="6515100" y="2800350"/>
            <a:ext cx="2857500" cy="190500"/>
            <a:chOff x="0" y="0"/>
            <a:chExt cx="2857500" cy="190500"/>
          </a:xfrm>
        </p:grpSpPr>
        <p:sp>
          <p:nvSpPr>
            <p:cNvPr id="1049129" name="Rectangle"/>
            <p:cNvSpPr/>
            <p:nvPr/>
          </p:nvSpPr>
          <p:spPr>
            <a:xfrm rot="0">
              <a:off x="0" y="0"/>
              <a:ext cx="2857500" cy="1905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30" name="MOST DECISIVE WINS IN 2026"/>
            <p:cNvSpPr txBox="1"/>
            <p:nvPr/>
          </p:nvSpPr>
          <p:spPr>
            <a:xfrm rot="0">
              <a:off x="0" y="0"/>
              <a:ext cx="28575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MOST DECISIVE WINS IN 2026</a:t>
              </a:r>
            </a:p>
          </p:txBody>
        </p:sp>
      </p:grpSp>
      <p:sp>
        <p:nvSpPr>
          <p:cNvPr id="1049131" name="Rounded Rectangle"/>
          <p:cNvSpPr/>
          <p:nvPr/>
        </p:nvSpPr>
        <p:spPr>
          <a:xfrm rot="0">
            <a:off x="6515100" y="3105150"/>
            <a:ext cx="4286250" cy="285750"/>
          </a:xfrm>
          <a:prstGeom prst="roundRect">
            <a:avLst>
              <a:gd name="adj" fmla="val 26667"/>
            </a:avLst>
          </a:prstGeom>
          <a:solidFill>
            <a:srgbClr val="4F3829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14" name=""/>
          <p:cNvGrpSpPr/>
          <p:nvPr/>
        </p:nvGrpSpPr>
        <p:grpSpPr>
          <a:xfrm rot="0">
            <a:off x="6610350" y="3181350"/>
            <a:ext cx="919162" cy="152400"/>
            <a:chOff x="0" y="0"/>
            <a:chExt cx="919162" cy="152400"/>
          </a:xfrm>
        </p:grpSpPr>
        <p:sp>
          <p:nvSpPr>
            <p:cNvPr id="1049132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33" name="SEAT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SEAT</a:t>
              </a:r>
            </a:p>
          </p:txBody>
        </p:sp>
      </p:grpSp>
      <p:grpSp>
        <p:nvGrpSpPr>
          <p:cNvPr id="215" name=""/>
          <p:cNvGrpSpPr/>
          <p:nvPr/>
        </p:nvGrpSpPr>
        <p:grpSpPr>
          <a:xfrm rot="0">
            <a:off x="7681912" y="3181350"/>
            <a:ext cx="919162" cy="152400"/>
            <a:chOff x="0" y="0"/>
            <a:chExt cx="919162" cy="152400"/>
          </a:xfrm>
        </p:grpSpPr>
        <p:sp>
          <p:nvSpPr>
            <p:cNvPr id="104913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35" name="WINNE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WINNER</a:t>
              </a:r>
            </a:p>
          </p:txBody>
        </p:sp>
      </p:grpSp>
      <p:grpSp>
        <p:nvGrpSpPr>
          <p:cNvPr id="216" name=""/>
          <p:cNvGrpSpPr/>
          <p:nvPr/>
        </p:nvGrpSpPr>
        <p:grpSpPr>
          <a:xfrm rot="0">
            <a:off x="8753475" y="3181350"/>
            <a:ext cx="919162" cy="152400"/>
            <a:chOff x="0" y="0"/>
            <a:chExt cx="919162" cy="152400"/>
          </a:xfrm>
        </p:grpSpPr>
        <p:sp>
          <p:nvSpPr>
            <p:cNvPr id="1049136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37" name="MARGIN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MARGIN</a:t>
              </a:r>
            </a:p>
          </p:txBody>
        </p:sp>
      </p:grpSp>
      <p:grpSp>
        <p:nvGrpSpPr>
          <p:cNvPr id="217" name=""/>
          <p:cNvGrpSpPr/>
          <p:nvPr/>
        </p:nvGrpSpPr>
        <p:grpSpPr>
          <a:xfrm rot="0">
            <a:off x="9825038" y="3181350"/>
            <a:ext cx="919162" cy="152400"/>
            <a:chOff x="0" y="0"/>
            <a:chExt cx="919162" cy="152400"/>
          </a:xfrm>
        </p:grpSpPr>
        <p:sp>
          <p:nvSpPr>
            <p:cNvPr id="1049138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6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39" name="VOTE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6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VOTE%</a:t>
              </a:r>
            </a:p>
          </p:txBody>
        </p:sp>
      </p:grpSp>
      <p:sp>
        <p:nvSpPr>
          <p:cNvPr id="1049140" name="Rectangle"/>
          <p:cNvSpPr/>
          <p:nvPr/>
        </p:nvSpPr>
        <p:spPr>
          <a:xfrm rot="0">
            <a:off x="6515100" y="34290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18" name=""/>
          <p:cNvGrpSpPr/>
          <p:nvPr/>
        </p:nvGrpSpPr>
        <p:grpSpPr>
          <a:xfrm rot="0">
            <a:off x="6610350" y="3505200"/>
            <a:ext cx="919162" cy="152400"/>
            <a:chOff x="0" y="0"/>
            <a:chExt cx="919162" cy="152400"/>
          </a:xfrm>
        </p:grpSpPr>
        <p:sp>
          <p:nvSpPr>
            <p:cNvPr id="1049141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42" name="Edapadi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Edapadi</a:t>
              </a:r>
            </a:p>
          </p:txBody>
        </p:sp>
      </p:grpSp>
      <p:grpSp>
        <p:nvGrpSpPr>
          <p:cNvPr id="219" name=""/>
          <p:cNvGrpSpPr/>
          <p:nvPr/>
        </p:nvGrpSpPr>
        <p:grpSpPr>
          <a:xfrm rot="0">
            <a:off x="7681912" y="3505200"/>
            <a:ext cx="919162" cy="152400"/>
            <a:chOff x="0" y="0"/>
            <a:chExt cx="919162" cy="152400"/>
          </a:xfrm>
        </p:grpSpPr>
        <p:sp>
          <p:nvSpPr>
            <p:cNvPr id="1049143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44" name="AIADM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AIADMK</a:t>
              </a:r>
            </a:p>
          </p:txBody>
        </p:sp>
      </p:grpSp>
      <p:grpSp>
        <p:nvGrpSpPr>
          <p:cNvPr id="220" name=""/>
          <p:cNvGrpSpPr/>
          <p:nvPr/>
        </p:nvGrpSpPr>
        <p:grpSpPr>
          <a:xfrm rot="0">
            <a:off x="8753475" y="3505200"/>
            <a:ext cx="919162" cy="152400"/>
            <a:chOff x="0" y="0"/>
            <a:chExt cx="919162" cy="152400"/>
          </a:xfrm>
        </p:grpSpPr>
        <p:sp>
          <p:nvSpPr>
            <p:cNvPr id="1049145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46" name="98,110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98,110</a:t>
              </a:r>
            </a:p>
          </p:txBody>
        </p:sp>
      </p:grpSp>
      <p:grpSp>
        <p:nvGrpSpPr>
          <p:cNvPr id="221" name=""/>
          <p:cNvGrpSpPr/>
          <p:nvPr/>
        </p:nvGrpSpPr>
        <p:grpSpPr>
          <a:xfrm rot="0">
            <a:off x="9825038" y="3505200"/>
            <a:ext cx="919162" cy="152400"/>
            <a:chOff x="0" y="0"/>
            <a:chExt cx="919162" cy="152400"/>
          </a:xfrm>
        </p:grpSpPr>
        <p:sp>
          <p:nvSpPr>
            <p:cNvPr id="1049147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48" name="58.0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58.0%</a:t>
              </a:r>
            </a:p>
          </p:txBody>
        </p:sp>
      </p:grpSp>
      <p:sp>
        <p:nvSpPr>
          <p:cNvPr id="1049149" name="Rectangle"/>
          <p:cNvSpPr/>
          <p:nvPr/>
        </p:nvSpPr>
        <p:spPr>
          <a:xfrm rot="0">
            <a:off x="6515100" y="3714750"/>
            <a:ext cx="4286250" cy="266700"/>
          </a:xfrm>
          <a:prstGeom prst="rect"/>
          <a:solidFill>
            <a:srgbClr val="FFFDF8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22" name=""/>
          <p:cNvGrpSpPr/>
          <p:nvPr/>
        </p:nvGrpSpPr>
        <p:grpSpPr>
          <a:xfrm rot="0">
            <a:off x="6610350" y="3790950"/>
            <a:ext cx="919162" cy="152400"/>
            <a:chOff x="0" y="0"/>
            <a:chExt cx="919162" cy="152400"/>
          </a:xfrm>
        </p:grpSpPr>
        <p:sp>
          <p:nvSpPr>
            <p:cNvPr id="1049150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51" name="Shozhinganallur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Shozhinganallur</a:t>
              </a:r>
            </a:p>
          </p:txBody>
        </p:sp>
      </p:grpSp>
      <p:grpSp>
        <p:nvGrpSpPr>
          <p:cNvPr id="223" name=""/>
          <p:cNvGrpSpPr/>
          <p:nvPr/>
        </p:nvGrpSpPr>
        <p:grpSpPr>
          <a:xfrm rot="0">
            <a:off x="7681912" y="3790950"/>
            <a:ext cx="919162" cy="152400"/>
            <a:chOff x="0" y="0"/>
            <a:chExt cx="919162" cy="152400"/>
          </a:xfrm>
        </p:grpSpPr>
        <p:sp>
          <p:nvSpPr>
            <p:cNvPr id="1049152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53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224" name=""/>
          <p:cNvGrpSpPr/>
          <p:nvPr/>
        </p:nvGrpSpPr>
        <p:grpSpPr>
          <a:xfrm rot="0">
            <a:off x="8753475" y="3790950"/>
            <a:ext cx="919162" cy="152400"/>
            <a:chOff x="0" y="0"/>
            <a:chExt cx="919162" cy="152400"/>
          </a:xfrm>
        </p:grpSpPr>
        <p:sp>
          <p:nvSpPr>
            <p:cNvPr id="104915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55" name="96,780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96,780</a:t>
              </a:r>
            </a:p>
          </p:txBody>
        </p:sp>
      </p:grpSp>
      <p:grpSp>
        <p:nvGrpSpPr>
          <p:cNvPr id="225" name=""/>
          <p:cNvGrpSpPr/>
          <p:nvPr/>
        </p:nvGrpSpPr>
        <p:grpSpPr>
          <a:xfrm rot="0">
            <a:off x="9825038" y="3790950"/>
            <a:ext cx="919162" cy="152400"/>
            <a:chOff x="0" y="0"/>
            <a:chExt cx="919162" cy="152400"/>
          </a:xfrm>
        </p:grpSpPr>
        <p:sp>
          <p:nvSpPr>
            <p:cNvPr id="1049156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57" name="49.5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49.5%</a:t>
              </a:r>
            </a:p>
          </p:txBody>
        </p:sp>
      </p:grpSp>
      <p:sp>
        <p:nvSpPr>
          <p:cNvPr id="1049158" name="Rectangle"/>
          <p:cNvSpPr/>
          <p:nvPr/>
        </p:nvSpPr>
        <p:spPr>
          <a:xfrm rot="0">
            <a:off x="6515100" y="40005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26" name=""/>
          <p:cNvGrpSpPr/>
          <p:nvPr/>
        </p:nvGrpSpPr>
        <p:grpSpPr>
          <a:xfrm rot="0">
            <a:off x="6610350" y="4076700"/>
            <a:ext cx="919162" cy="152400"/>
            <a:chOff x="0" y="0"/>
            <a:chExt cx="919162" cy="152400"/>
          </a:xfrm>
        </p:grpSpPr>
        <p:sp>
          <p:nvSpPr>
            <p:cNvPr id="1049159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60" name="Madavaram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Madavaram</a:t>
              </a:r>
            </a:p>
          </p:txBody>
        </p:sp>
      </p:grpSp>
      <p:grpSp>
        <p:nvGrpSpPr>
          <p:cNvPr id="227" name=""/>
          <p:cNvGrpSpPr/>
          <p:nvPr/>
        </p:nvGrpSpPr>
        <p:grpSpPr>
          <a:xfrm rot="0">
            <a:off x="7681912" y="4076700"/>
            <a:ext cx="919162" cy="152400"/>
            <a:chOff x="0" y="0"/>
            <a:chExt cx="919162" cy="152400"/>
          </a:xfrm>
        </p:grpSpPr>
        <p:sp>
          <p:nvSpPr>
            <p:cNvPr id="1049161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62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228" name=""/>
          <p:cNvGrpSpPr/>
          <p:nvPr/>
        </p:nvGrpSpPr>
        <p:grpSpPr>
          <a:xfrm rot="0">
            <a:off x="8753475" y="4076700"/>
            <a:ext cx="919162" cy="152400"/>
            <a:chOff x="0" y="0"/>
            <a:chExt cx="919162" cy="152400"/>
          </a:xfrm>
        </p:grpSpPr>
        <p:sp>
          <p:nvSpPr>
            <p:cNvPr id="1049163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64" name="94,985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94,985</a:t>
              </a:r>
            </a:p>
          </p:txBody>
        </p:sp>
      </p:grpSp>
      <p:grpSp>
        <p:nvGrpSpPr>
          <p:cNvPr id="229" name=""/>
          <p:cNvGrpSpPr/>
          <p:nvPr/>
        </p:nvGrpSpPr>
        <p:grpSpPr>
          <a:xfrm rot="0">
            <a:off x="9825038" y="4076700"/>
            <a:ext cx="919162" cy="152400"/>
            <a:chOff x="0" y="0"/>
            <a:chExt cx="919162" cy="152400"/>
          </a:xfrm>
        </p:grpSpPr>
        <p:sp>
          <p:nvSpPr>
            <p:cNvPr id="1049165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66" name="52.8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52.8%</a:t>
              </a:r>
            </a:p>
          </p:txBody>
        </p:sp>
      </p:grpSp>
      <p:sp>
        <p:nvSpPr>
          <p:cNvPr id="1049167" name="Rectangle"/>
          <p:cNvSpPr/>
          <p:nvPr/>
        </p:nvSpPr>
        <p:spPr>
          <a:xfrm rot="0">
            <a:off x="6515100" y="4286250"/>
            <a:ext cx="4286250" cy="266700"/>
          </a:xfrm>
          <a:prstGeom prst="rect"/>
          <a:solidFill>
            <a:srgbClr val="FFFDF8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30" name=""/>
          <p:cNvGrpSpPr/>
          <p:nvPr/>
        </p:nvGrpSpPr>
        <p:grpSpPr>
          <a:xfrm rot="0">
            <a:off x="6610350" y="4362450"/>
            <a:ext cx="919162" cy="152400"/>
            <a:chOff x="0" y="0"/>
            <a:chExt cx="919162" cy="152400"/>
          </a:xfrm>
        </p:grpSpPr>
        <p:sp>
          <p:nvSpPr>
            <p:cNvPr id="1049168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69" name="Avadi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Avadi</a:t>
              </a:r>
            </a:p>
          </p:txBody>
        </p:sp>
      </p:grpSp>
      <p:grpSp>
        <p:nvGrpSpPr>
          <p:cNvPr id="231" name=""/>
          <p:cNvGrpSpPr/>
          <p:nvPr/>
        </p:nvGrpSpPr>
        <p:grpSpPr>
          <a:xfrm rot="0">
            <a:off x="7681912" y="4362450"/>
            <a:ext cx="919162" cy="152400"/>
            <a:chOff x="0" y="0"/>
            <a:chExt cx="919162" cy="152400"/>
          </a:xfrm>
        </p:grpSpPr>
        <p:sp>
          <p:nvSpPr>
            <p:cNvPr id="1049170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71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232" name=""/>
          <p:cNvGrpSpPr/>
          <p:nvPr/>
        </p:nvGrpSpPr>
        <p:grpSpPr>
          <a:xfrm rot="0">
            <a:off x="8753475" y="4362450"/>
            <a:ext cx="919162" cy="152400"/>
            <a:chOff x="0" y="0"/>
            <a:chExt cx="919162" cy="152400"/>
          </a:xfrm>
        </p:grpSpPr>
        <p:sp>
          <p:nvSpPr>
            <p:cNvPr id="1049172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73" name="76,311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76,311</a:t>
              </a:r>
            </a:p>
          </p:txBody>
        </p:sp>
      </p:grpSp>
      <p:grpSp>
        <p:nvGrpSpPr>
          <p:cNvPr id="233" name=""/>
          <p:cNvGrpSpPr/>
          <p:nvPr/>
        </p:nvGrpSpPr>
        <p:grpSpPr>
          <a:xfrm rot="0">
            <a:off x="9825038" y="4362450"/>
            <a:ext cx="919162" cy="152400"/>
            <a:chOff x="0" y="0"/>
            <a:chExt cx="919162" cy="152400"/>
          </a:xfrm>
        </p:grpSpPr>
        <p:sp>
          <p:nvSpPr>
            <p:cNvPr id="1049174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75" name="52.4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52.4%</a:t>
              </a:r>
            </a:p>
          </p:txBody>
        </p:sp>
      </p:grpSp>
      <p:sp>
        <p:nvSpPr>
          <p:cNvPr id="1049176" name="Rectangle"/>
          <p:cNvSpPr/>
          <p:nvPr/>
        </p:nvSpPr>
        <p:spPr>
          <a:xfrm rot="0">
            <a:off x="6515100" y="4572000"/>
            <a:ext cx="4286250" cy="266700"/>
          </a:xfrm>
          <a:prstGeom prst="rect"/>
          <a:solidFill>
            <a:srgbClr val="FFFAF3"/>
          </a:solidFill>
          <a:ln w="9525" cap="flat" cmpd="sng">
            <a:solidFill>
              <a:srgbClr val="EADFD2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34" name=""/>
          <p:cNvGrpSpPr/>
          <p:nvPr/>
        </p:nvGrpSpPr>
        <p:grpSpPr>
          <a:xfrm rot="0">
            <a:off x="6610350" y="4648200"/>
            <a:ext cx="919162" cy="152400"/>
            <a:chOff x="0" y="0"/>
            <a:chExt cx="919162" cy="152400"/>
          </a:xfrm>
        </p:grpSpPr>
        <p:sp>
          <p:nvSpPr>
            <p:cNvPr id="1049177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78" name="Salem West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Salem West</a:t>
              </a:r>
            </a:p>
          </p:txBody>
        </p:sp>
      </p:grpSp>
      <p:grpSp>
        <p:nvGrpSpPr>
          <p:cNvPr id="235" name=""/>
          <p:cNvGrpSpPr/>
          <p:nvPr/>
        </p:nvGrpSpPr>
        <p:grpSpPr>
          <a:xfrm rot="0">
            <a:off x="7681912" y="4648200"/>
            <a:ext cx="919162" cy="152400"/>
            <a:chOff x="0" y="0"/>
            <a:chExt cx="919162" cy="152400"/>
          </a:xfrm>
        </p:grpSpPr>
        <p:sp>
          <p:nvSpPr>
            <p:cNvPr id="1049179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80" name="TVK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TVK</a:t>
              </a:r>
            </a:p>
          </p:txBody>
        </p:sp>
      </p:grpSp>
      <p:grpSp>
        <p:nvGrpSpPr>
          <p:cNvPr id="236" name=""/>
          <p:cNvGrpSpPr/>
          <p:nvPr/>
        </p:nvGrpSpPr>
        <p:grpSpPr>
          <a:xfrm rot="0">
            <a:off x="8753475" y="4648200"/>
            <a:ext cx="919162" cy="152400"/>
            <a:chOff x="0" y="0"/>
            <a:chExt cx="919162" cy="152400"/>
          </a:xfrm>
        </p:grpSpPr>
        <p:sp>
          <p:nvSpPr>
            <p:cNvPr id="1049181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82" name="74,867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74,867</a:t>
              </a:r>
            </a:p>
          </p:txBody>
        </p:sp>
      </p:grpSp>
      <p:grpSp>
        <p:nvGrpSpPr>
          <p:cNvPr id="237" name=""/>
          <p:cNvGrpSpPr/>
          <p:nvPr/>
        </p:nvGrpSpPr>
        <p:grpSpPr>
          <a:xfrm rot="0">
            <a:off x="9825038" y="4648200"/>
            <a:ext cx="919162" cy="152400"/>
            <a:chOff x="0" y="0"/>
            <a:chExt cx="919162" cy="152400"/>
          </a:xfrm>
        </p:grpSpPr>
        <p:sp>
          <p:nvSpPr>
            <p:cNvPr id="1049183" name="Rectangle"/>
            <p:cNvSpPr/>
            <p:nvPr/>
          </p:nvSpPr>
          <p:spPr>
            <a:xfrm rot="0">
              <a:off x="0" y="0"/>
              <a:ext cx="919163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27221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84" name="51.6%"/>
            <p:cNvSpPr txBox="1"/>
            <p:nvPr/>
          </p:nvSpPr>
          <p:spPr>
            <a:xfrm rot="0">
              <a:off x="0" y="0"/>
              <a:ext cx="919163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27221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51.6%</a:t>
              </a:r>
            </a:p>
          </p:txBody>
        </p:sp>
      </p:grpSp>
      <p:sp>
        <p:nvSpPr>
          <p:cNvPr id="1049185" name="Rounded Rectangle"/>
          <p:cNvSpPr/>
          <p:nvPr/>
        </p:nvSpPr>
        <p:spPr>
          <a:xfrm rot="0">
            <a:off x="666750" y="5734050"/>
            <a:ext cx="10572750" cy="361950"/>
          </a:xfrm>
          <a:prstGeom prst="roundRect">
            <a:avLst>
              <a:gd name="adj" fmla="val 21051"/>
            </a:avLst>
          </a:prstGeom>
          <a:solidFill>
            <a:srgbClr val="4F3829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38" name=""/>
          <p:cNvGrpSpPr/>
          <p:nvPr/>
        </p:nvGrpSpPr>
        <p:grpSpPr>
          <a:xfrm rot="0">
            <a:off x="895350" y="5848350"/>
            <a:ext cx="9810750" cy="152400"/>
            <a:chOff x="0" y="0"/>
            <a:chExt cx="9810750" cy="152400"/>
          </a:xfrm>
        </p:grpSpPr>
        <p:sp>
          <p:nvSpPr>
            <p:cNvPr id="1049186" name="Rectangle"/>
            <p:cNvSpPr/>
            <p:nvPr/>
          </p:nvSpPr>
          <p:spPr>
            <a:xfrm rot="0">
              <a:off x="0" y="0"/>
              <a:ext cx="9810750" cy="152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900">
                <a:solidFill>
                  <a:srgbClr val="FFFFFF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87" name="Packaging idea: publish a live 'Margin Watch' index with close seats, seats below 35%, and decisive-seat explainers."/>
            <p:cNvSpPr txBox="1"/>
            <p:nvPr/>
          </p:nvSpPr>
          <p:spPr>
            <a:xfrm rot="0">
              <a:off x="0" y="0"/>
              <a:ext cx="9810750" cy="1397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900" lang="zh-CN">
                  <a:solidFill>
                    <a:srgbClr val="FFFFFF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Packaging idea: publish a live 'Margin Watch' index with close seats, seats below 35%, and decisive-seat explainers.</a:t>
              </a:r>
            </a:p>
          </p:txBody>
        </p:sp>
      </p:grpSp>
    </p:spTree>
  </p:cSld>
  <p:clrMapOvr>
    <a:masterClrMapping/>
  </p:clrMapOvr>
  <p:transition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88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4EEE5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189" name="Rectangle"/>
          <p:cNvSpPr/>
          <p:nvPr/>
        </p:nvSpPr>
        <p:spPr>
          <a:xfrm rot="0">
            <a:off x="0" y="0"/>
            <a:ext cx="12192000" cy="6858000"/>
          </a:xfrm>
          <a:prstGeom prst="rect"/>
          <a:solidFill>
            <a:srgbClr val="FFFFFF">
              <a:alpha val="1568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190" name="Circle"/>
          <p:cNvSpPr/>
          <p:nvPr/>
        </p:nvSpPr>
        <p:spPr>
          <a:xfrm rot="0">
            <a:off x="9848850" y="0"/>
            <a:ext cx="2343150" cy="2343150"/>
          </a:xfrm>
          <a:prstGeom prst="ellipse"/>
          <a:solidFill>
            <a:srgbClr val="DF8155">
              <a:alpha val="10196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sp>
        <p:nvSpPr>
          <p:cNvPr id="1049191" name="Circle"/>
          <p:cNvSpPr/>
          <p:nvPr/>
        </p:nvSpPr>
        <p:spPr>
          <a:xfrm rot="0">
            <a:off x="0" y="5638800"/>
            <a:ext cx="1219200" cy="1219200"/>
          </a:xfrm>
          <a:prstGeom prst="ellipse"/>
          <a:solidFill>
            <a:srgbClr val="8B684D">
              <a:alpha val="7843"/>
            </a:srgbClr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40" name=""/>
          <p:cNvGrpSpPr/>
          <p:nvPr/>
        </p:nvGrpSpPr>
        <p:grpSpPr>
          <a:xfrm rot="0">
            <a:off x="495300" y="6419850"/>
            <a:ext cx="7239000" cy="209550"/>
            <a:chOff x="0" y="0"/>
            <a:chExt cx="7239000" cy="209550"/>
          </a:xfrm>
        </p:grpSpPr>
        <p:sp>
          <p:nvSpPr>
            <p:cNvPr id="1049192" name="Rectangle"/>
            <p:cNvSpPr/>
            <p:nvPr/>
          </p:nvSpPr>
          <p:spPr>
            <a:xfrm rot="0">
              <a:off x="0" y="0"/>
              <a:ext cx="7239000" cy="2095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7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93" name="AtliQ Media leadership pack | Tamil Nadu 2026 election analysis | Internal working view"/>
            <p:cNvSpPr txBox="1"/>
            <p:nvPr/>
          </p:nvSpPr>
          <p:spPr>
            <a:xfrm rot="0">
              <a:off x="0" y="0"/>
              <a:ext cx="72390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7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AtliQ Media leadership pack | Tamil Nadu 2026 election analysis | Internal working view</a:t>
              </a:r>
            </a:p>
          </p:txBody>
        </p:sp>
      </p:grpSp>
      <p:grpSp>
        <p:nvGrpSpPr>
          <p:cNvPr id="241" name=""/>
          <p:cNvGrpSpPr/>
          <p:nvPr/>
        </p:nvGrpSpPr>
        <p:grpSpPr>
          <a:xfrm rot="0">
            <a:off x="11163300" y="6400800"/>
            <a:ext cx="533400" cy="228600"/>
            <a:chOff x="0" y="0"/>
            <a:chExt cx="533400" cy="228600"/>
          </a:xfrm>
        </p:grpSpPr>
        <p:sp>
          <p:nvSpPr>
            <p:cNvPr id="1049194" name="Rectangle"/>
            <p:cNvSpPr/>
            <p:nvPr/>
          </p:nvSpPr>
          <p:spPr>
            <a:xfrm rot="0">
              <a:off x="0" y="0"/>
              <a:ext cx="533400" cy="2286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endParaRPr b="1" sz="8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95" name="09"/>
            <p:cNvSpPr txBox="1"/>
            <p:nvPr/>
          </p:nvSpPr>
          <p:spPr>
            <a:xfrm rot="0">
              <a:off x="0" y="0"/>
              <a:ext cx="53340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algn="r" eaLnBrk="1" lvl="0"/>
              <a:r>
                <a:rPr b="1" sz="8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09</a:t>
              </a:r>
            </a:p>
          </p:txBody>
        </p:sp>
      </p:grpSp>
      <p:sp>
        <p:nvSpPr>
          <p:cNvPr id="1049196" name="kicker-dot"/>
          <p:cNvSpPr/>
          <p:nvPr/>
        </p:nvSpPr>
        <p:spPr>
          <a:xfrm rot="0">
            <a:off x="552450" y="457200"/>
            <a:ext cx="76200" cy="76200"/>
          </a:xfrm>
          <a:prstGeom prst="ellipse"/>
          <a:solidFill>
            <a:srgbClr val="8B684D"/>
          </a:solidFill>
          <a:ln w="3175"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42" name=""/>
          <p:cNvGrpSpPr/>
          <p:nvPr/>
        </p:nvGrpSpPr>
        <p:grpSpPr>
          <a:xfrm rot="0">
            <a:off x="723900" y="381000"/>
            <a:ext cx="8096250" cy="247650"/>
            <a:chOff x="0" y="0"/>
            <a:chExt cx="8096250" cy="247650"/>
          </a:xfrm>
        </p:grpSpPr>
        <p:sp>
          <p:nvSpPr>
            <p:cNvPr id="1049197" name="Rectangle"/>
            <p:cNvSpPr/>
            <p:nvPr/>
          </p:nvSpPr>
          <p:spPr>
            <a:xfrm rot="0">
              <a:off x="0" y="0"/>
              <a:ext cx="8096250" cy="2476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800">
                <a:solidFill>
                  <a:srgbClr val="8B684D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198" name="LEADERSHIP IMPLICATIONS"/>
            <p:cNvSpPr txBox="1"/>
            <p:nvPr/>
          </p:nvSpPr>
          <p:spPr>
            <a:xfrm rot="0">
              <a:off x="0" y="0"/>
              <a:ext cx="8096250" cy="127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800" lang="zh-CN">
                  <a:solidFill>
                    <a:srgbClr val="8B684D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LEADERSHIP IMPLICATIONS</a:t>
              </a:r>
            </a:p>
          </p:txBody>
        </p:sp>
      </p:grpSp>
      <p:grpSp>
        <p:nvGrpSpPr>
          <p:cNvPr id="243" name=""/>
          <p:cNvGrpSpPr/>
          <p:nvPr/>
        </p:nvGrpSpPr>
        <p:grpSpPr>
          <a:xfrm rot="0">
            <a:off x="552450" y="704850"/>
            <a:ext cx="8572500" cy="1041400"/>
            <a:chOff x="0" y="0"/>
            <a:chExt cx="8572500" cy="1041400"/>
          </a:xfrm>
        </p:grpSpPr>
        <p:sp>
          <p:nvSpPr>
            <p:cNvPr id="1049199" name="Rectangle"/>
            <p:cNvSpPr/>
            <p:nvPr/>
          </p:nvSpPr>
          <p:spPr>
            <a:xfrm rot="0">
              <a:off x="0" y="0"/>
              <a:ext cx="8572500" cy="9144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31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00" name="AtliQ Media can own the post-result analysis window with three products."/>
            <p:cNvSpPr txBox="1"/>
            <p:nvPr/>
          </p:nvSpPr>
          <p:spPr>
            <a:xfrm rot="0">
              <a:off x="0" y="0"/>
              <a:ext cx="8572500" cy="1041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31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AtliQ Media can own the post-result analysis window with three products.</a:t>
              </a:r>
            </a:p>
          </p:txBody>
        </p:sp>
      </p:grpSp>
      <p:grpSp>
        <p:nvGrpSpPr>
          <p:cNvPr id="244" name=""/>
          <p:cNvGrpSpPr/>
          <p:nvPr/>
        </p:nvGrpSpPr>
        <p:grpSpPr>
          <a:xfrm rot="0">
            <a:off x="609600" y="1695450"/>
            <a:ext cx="7239000" cy="438150"/>
            <a:chOff x="0" y="0"/>
            <a:chExt cx="7239000" cy="438150"/>
          </a:xfrm>
        </p:grpSpPr>
        <p:sp>
          <p:nvSpPr>
            <p:cNvPr id="1049201" name="Rectangle"/>
            <p:cNvSpPr/>
            <p:nvPr/>
          </p:nvSpPr>
          <p:spPr>
            <a:xfrm rot="0">
              <a:off x="0" y="0"/>
              <a:ext cx="7239000" cy="4381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11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202" name="The data is strong enough for a leadership-backed content franchise, not just a one-off election recap."/>
            <p:cNvSpPr txBox="1"/>
            <p:nvPr/>
          </p:nvSpPr>
          <p:spPr>
            <a:xfrm rot="0">
              <a:off x="0" y="0"/>
              <a:ext cx="7239000" cy="1651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11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The data is strong enough for a leadership-backed content franchise, not just a one-off election recap.</a:t>
              </a:r>
            </a:p>
          </p:txBody>
        </p:sp>
      </p:grpSp>
      <p:sp>
        <p:nvSpPr>
          <p:cNvPr id="1049203" name="Rounded Rectangle"/>
          <p:cNvSpPr/>
          <p:nvPr/>
        </p:nvSpPr>
        <p:spPr>
          <a:xfrm rot="0">
            <a:off x="762000" y="2781300"/>
            <a:ext cx="3190875" cy="200025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45" name=""/>
          <p:cNvGrpSpPr/>
          <p:nvPr/>
        </p:nvGrpSpPr>
        <p:grpSpPr>
          <a:xfrm rot="0">
            <a:off x="990600" y="3028950"/>
            <a:ext cx="419100" cy="457200"/>
            <a:chOff x="0" y="0"/>
            <a:chExt cx="419100" cy="457200"/>
          </a:xfrm>
        </p:grpSpPr>
        <p:sp>
          <p:nvSpPr>
            <p:cNvPr id="1049204" name="Rectangle"/>
            <p:cNvSpPr/>
            <p:nvPr/>
          </p:nvSpPr>
          <p:spPr>
            <a:xfrm rot="0">
              <a:off x="0" y="0"/>
              <a:ext cx="4191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500">
                <a:solidFill>
                  <a:srgbClr val="DF8155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05" name="1"/>
            <p:cNvSpPr txBox="1"/>
            <p:nvPr/>
          </p:nvSpPr>
          <p:spPr>
            <a:xfrm rot="0">
              <a:off x="0" y="0"/>
              <a:ext cx="419100" cy="4191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500" lang="zh-CN">
                  <a:solidFill>
                    <a:srgbClr val="DF8155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1</a:t>
              </a:r>
            </a:p>
          </p:txBody>
        </p:sp>
      </p:grpSp>
      <p:grpSp>
        <p:nvGrpSpPr>
          <p:cNvPr id="246" name=""/>
          <p:cNvGrpSpPr/>
          <p:nvPr/>
        </p:nvGrpSpPr>
        <p:grpSpPr>
          <a:xfrm rot="0">
            <a:off x="1504950" y="3086100"/>
            <a:ext cx="1905000" cy="266700"/>
            <a:chOff x="0" y="0"/>
            <a:chExt cx="1905000" cy="266700"/>
          </a:xfrm>
        </p:grpSpPr>
        <p:sp>
          <p:nvSpPr>
            <p:cNvPr id="1049206" name="Rectangle"/>
            <p:cNvSpPr/>
            <p:nvPr/>
          </p:nvSpPr>
          <p:spPr>
            <a:xfrm rot="0">
              <a:off x="0" y="0"/>
              <a:ext cx="1905000" cy="2667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5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07" name="Flip Map"/>
            <p:cNvSpPr txBox="1"/>
            <p:nvPr/>
          </p:nvSpPr>
          <p:spPr>
            <a:xfrm rot="0">
              <a:off x="0" y="0"/>
              <a:ext cx="1905000" cy="254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5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Flip Map</a:t>
              </a:r>
            </a:p>
          </p:txBody>
        </p:sp>
      </p:grpSp>
      <p:grpSp>
        <p:nvGrpSpPr>
          <p:cNvPr id="247" name=""/>
          <p:cNvGrpSpPr/>
          <p:nvPr/>
        </p:nvGrpSpPr>
        <p:grpSpPr>
          <a:xfrm rot="0">
            <a:off x="990600" y="3638550"/>
            <a:ext cx="2571750" cy="685800"/>
            <a:chOff x="0" y="0"/>
            <a:chExt cx="2571750" cy="685800"/>
          </a:xfrm>
        </p:grpSpPr>
        <p:sp>
          <p:nvSpPr>
            <p:cNvPr id="1049208" name="Rectangle"/>
            <p:cNvSpPr/>
            <p:nvPr/>
          </p:nvSpPr>
          <p:spPr>
            <a:xfrm rot="0">
              <a:off x="0" y="0"/>
              <a:ext cx="2571750" cy="6858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209" name="Interactive constituency flow: what changed, from whom, and where the churn concentrated."/>
            <p:cNvSpPr txBox="1"/>
            <p:nvPr/>
          </p:nvSpPr>
          <p:spPr>
            <a:xfrm rot="0">
              <a:off x="0" y="0"/>
              <a:ext cx="2571750" cy="279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Interactive constituency flow: what changed, from whom, and where the churn concentrated.</a:t>
              </a:r>
            </a:p>
          </p:txBody>
        </p:sp>
      </p:grpSp>
      <p:sp>
        <p:nvSpPr>
          <p:cNvPr id="1049210" name="Rounded Rectangle"/>
          <p:cNvSpPr/>
          <p:nvPr/>
        </p:nvSpPr>
        <p:spPr>
          <a:xfrm rot="0">
            <a:off x="4429125" y="2781300"/>
            <a:ext cx="3190875" cy="200025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48" name=""/>
          <p:cNvGrpSpPr/>
          <p:nvPr/>
        </p:nvGrpSpPr>
        <p:grpSpPr>
          <a:xfrm rot="0">
            <a:off x="4657725" y="3028950"/>
            <a:ext cx="419100" cy="457200"/>
            <a:chOff x="0" y="0"/>
            <a:chExt cx="419100" cy="457200"/>
          </a:xfrm>
        </p:grpSpPr>
        <p:sp>
          <p:nvSpPr>
            <p:cNvPr id="1049211" name="Rectangle"/>
            <p:cNvSpPr/>
            <p:nvPr/>
          </p:nvSpPr>
          <p:spPr>
            <a:xfrm rot="0">
              <a:off x="0" y="0"/>
              <a:ext cx="4191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500">
                <a:solidFill>
                  <a:srgbClr val="C9584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12" name="2"/>
            <p:cNvSpPr txBox="1"/>
            <p:nvPr/>
          </p:nvSpPr>
          <p:spPr>
            <a:xfrm rot="0">
              <a:off x="0" y="0"/>
              <a:ext cx="419100" cy="4191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500" lang="zh-CN">
                  <a:solidFill>
                    <a:srgbClr val="C9584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2</a:t>
              </a:r>
            </a:p>
          </p:txBody>
        </p:sp>
      </p:grpSp>
      <p:grpSp>
        <p:nvGrpSpPr>
          <p:cNvPr id="249" name=""/>
          <p:cNvGrpSpPr/>
          <p:nvPr/>
        </p:nvGrpSpPr>
        <p:grpSpPr>
          <a:xfrm rot="0">
            <a:off x="5172075" y="3086100"/>
            <a:ext cx="1905000" cy="266700"/>
            <a:chOff x="0" y="0"/>
            <a:chExt cx="1905000" cy="266700"/>
          </a:xfrm>
        </p:grpSpPr>
        <p:sp>
          <p:nvSpPr>
            <p:cNvPr id="1049213" name="Rectangle"/>
            <p:cNvSpPr/>
            <p:nvPr/>
          </p:nvSpPr>
          <p:spPr>
            <a:xfrm rot="0">
              <a:off x="0" y="0"/>
              <a:ext cx="1905000" cy="2667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5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14" name="Vote Transfer"/>
            <p:cNvSpPr txBox="1"/>
            <p:nvPr/>
          </p:nvSpPr>
          <p:spPr>
            <a:xfrm rot="0">
              <a:off x="0" y="0"/>
              <a:ext cx="1905000" cy="254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5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Vote Transfer</a:t>
              </a:r>
            </a:p>
          </p:txBody>
        </p:sp>
      </p:grpSp>
      <p:grpSp>
        <p:nvGrpSpPr>
          <p:cNvPr id="250" name=""/>
          <p:cNvGrpSpPr/>
          <p:nvPr/>
        </p:nvGrpSpPr>
        <p:grpSpPr>
          <a:xfrm rot="0">
            <a:off x="4657725" y="3638550"/>
            <a:ext cx="2571750" cy="685800"/>
            <a:chOff x="0" y="0"/>
            <a:chExt cx="2571750" cy="685800"/>
          </a:xfrm>
        </p:grpSpPr>
        <p:sp>
          <p:nvSpPr>
            <p:cNvPr id="1049215" name="Rectangle"/>
            <p:cNvSpPr/>
            <p:nvPr/>
          </p:nvSpPr>
          <p:spPr>
            <a:xfrm rot="0">
              <a:off x="0" y="0"/>
              <a:ext cx="2571750" cy="6858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216" name="Region-by-region vote-share explainers that distinguish transfer, retention, and turnout growth."/>
            <p:cNvSpPr txBox="1"/>
            <p:nvPr/>
          </p:nvSpPr>
          <p:spPr>
            <a:xfrm rot="0">
              <a:off x="0" y="0"/>
              <a:ext cx="2571750" cy="279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Region-by-region vote-share explainers that distinguish transfer, retention, and turnout growth.</a:t>
              </a:r>
            </a:p>
          </p:txBody>
        </p:sp>
      </p:grpSp>
      <p:sp>
        <p:nvSpPr>
          <p:cNvPr id="1049217" name="Rounded Rectangle"/>
          <p:cNvSpPr/>
          <p:nvPr/>
        </p:nvSpPr>
        <p:spPr>
          <a:xfrm rot="0">
            <a:off x="8096250" y="2781300"/>
            <a:ext cx="3190875" cy="2000250"/>
          </a:xfrm>
          <a:prstGeom prst="roundRect">
            <a:avLst>
              <a:gd name="adj" fmla="val 3810"/>
            </a:avLst>
          </a:prstGeom>
          <a:solidFill>
            <a:srgbClr val="FFFAF3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51" name=""/>
          <p:cNvGrpSpPr/>
          <p:nvPr/>
        </p:nvGrpSpPr>
        <p:grpSpPr>
          <a:xfrm rot="0">
            <a:off x="8324850" y="3028950"/>
            <a:ext cx="419100" cy="457200"/>
            <a:chOff x="0" y="0"/>
            <a:chExt cx="419100" cy="457200"/>
          </a:xfrm>
        </p:grpSpPr>
        <p:sp>
          <p:nvSpPr>
            <p:cNvPr id="1049218" name="Rectangle"/>
            <p:cNvSpPr/>
            <p:nvPr/>
          </p:nvSpPr>
          <p:spPr>
            <a:xfrm rot="0">
              <a:off x="0" y="0"/>
              <a:ext cx="419100" cy="4572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2500">
                <a:solidFill>
                  <a:srgbClr val="111827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19" name="3"/>
            <p:cNvSpPr txBox="1"/>
            <p:nvPr/>
          </p:nvSpPr>
          <p:spPr>
            <a:xfrm rot="0">
              <a:off x="0" y="0"/>
              <a:ext cx="419100" cy="4191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2500" lang="zh-CN">
                  <a:solidFill>
                    <a:srgbClr val="111827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3</a:t>
              </a:r>
            </a:p>
          </p:txBody>
        </p:sp>
      </p:grpSp>
      <p:grpSp>
        <p:nvGrpSpPr>
          <p:cNvPr id="252" name=""/>
          <p:cNvGrpSpPr/>
          <p:nvPr/>
        </p:nvGrpSpPr>
        <p:grpSpPr>
          <a:xfrm rot="0">
            <a:off x="8839200" y="3086100"/>
            <a:ext cx="1905000" cy="266700"/>
            <a:chOff x="0" y="0"/>
            <a:chExt cx="1905000" cy="266700"/>
          </a:xfrm>
        </p:grpSpPr>
        <p:sp>
          <p:nvSpPr>
            <p:cNvPr id="1049220" name="Rectangle"/>
            <p:cNvSpPr/>
            <p:nvPr/>
          </p:nvSpPr>
          <p:spPr>
            <a:xfrm rot="0">
              <a:off x="0" y="0"/>
              <a:ext cx="1905000" cy="2667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500">
                <a:solidFill>
                  <a:srgbClr val="27221D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21" name="Margin Watch"/>
            <p:cNvSpPr txBox="1"/>
            <p:nvPr/>
          </p:nvSpPr>
          <p:spPr>
            <a:xfrm rot="0">
              <a:off x="0" y="0"/>
              <a:ext cx="1905000" cy="2540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500" lang="zh-CN">
                  <a:solidFill>
                    <a:srgbClr val="27221D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Margin Watch</a:t>
              </a:r>
            </a:p>
          </p:txBody>
        </p:sp>
      </p:grpSp>
      <p:grpSp>
        <p:nvGrpSpPr>
          <p:cNvPr id="253" name=""/>
          <p:cNvGrpSpPr/>
          <p:nvPr/>
        </p:nvGrpSpPr>
        <p:grpSpPr>
          <a:xfrm rot="0">
            <a:off x="8324850" y="3638550"/>
            <a:ext cx="2571750" cy="685800"/>
            <a:chOff x="0" y="0"/>
            <a:chExt cx="2571750" cy="685800"/>
          </a:xfrm>
        </p:grpSpPr>
        <p:sp>
          <p:nvSpPr>
            <p:cNvPr id="1049222" name="Rectangle"/>
            <p:cNvSpPr/>
            <p:nvPr/>
          </p:nvSpPr>
          <p:spPr>
            <a:xfrm rot="0">
              <a:off x="0" y="0"/>
              <a:ext cx="2571750" cy="68580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sz="900">
                <a:solidFill>
                  <a:srgbClr val="756B61"/>
                </a:solidFill>
                <a:latin typeface="Aptos" pitchFamily="34" charset="0"/>
                <a:ea typeface="Aptos" pitchFamily="34" charset="0"/>
                <a:sym typeface="Aptos" pitchFamily="34" charset="0"/>
              </a:endParaRPr>
            </a:p>
          </p:txBody>
        </p:sp>
        <p:sp>
          <p:nvSpPr>
            <p:cNvPr id="1049223" name="Seat-level risk model for thin pluralities, close races, and next-cycle vulnerability."/>
            <p:cNvSpPr txBox="1"/>
            <p:nvPr/>
          </p:nvSpPr>
          <p:spPr>
            <a:xfrm rot="0">
              <a:off x="0" y="0"/>
              <a:ext cx="2571750" cy="2794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sz="900" lang="zh-CN">
                  <a:solidFill>
                    <a:srgbClr val="756B61"/>
                  </a:solidFill>
                  <a:latin typeface="Aptos" pitchFamily="34" charset="0"/>
                  <a:ea typeface="Aptos" pitchFamily="34" charset="0"/>
                  <a:sym typeface="Aptos" pitchFamily="34" charset="0"/>
                </a:rPr>
                <a:t>Seat-level risk model for thin pluralities, close races, and next-cycle vulnerability.</a:t>
              </a:r>
            </a:p>
          </p:txBody>
        </p:sp>
      </p:grpSp>
      <p:sp>
        <p:nvSpPr>
          <p:cNvPr id="1049224" name="Rounded Rectangle"/>
          <p:cNvSpPr/>
          <p:nvPr/>
        </p:nvSpPr>
        <p:spPr>
          <a:xfrm rot="0">
            <a:off x="762000" y="5162550"/>
            <a:ext cx="10525125" cy="685800"/>
          </a:xfrm>
          <a:prstGeom prst="roundRect">
            <a:avLst>
              <a:gd name="adj" fmla="val 11111"/>
            </a:avLst>
          </a:prstGeom>
          <a:solidFill>
            <a:srgbClr val="2F241E"/>
          </a:solidFill>
          <a:ln w="9525" cap="flat" cmpd="sng">
            <a:solidFill>
              <a:srgbClr val="DED1C1">
                <a:alpha val="100000"/>
              </a:srgbClr>
            </a:solidFill>
            <a:prstDash val="solid"/>
            <a:round/>
          </a:ln>
        </p:spPr>
        <p:txBody>
          <a:bodyPr anchor="t" bIns="0" lIns="0" rIns="0" tIns="0" vert="horz"/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1pPr>
            <a:lvl2pPr algn="l" eaLnBrk="0" fontAlgn="base" hangingPunct="0" indent="4572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2pPr>
            <a:lvl3pPr algn="l" eaLnBrk="0" fontAlgn="base" hangingPunct="0" indent="9144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3pPr>
            <a:lvl4pPr algn="l" eaLnBrk="0" fontAlgn="base" hangingPunct="0" indent="13716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4pPr>
            <a:lvl5pPr algn="l" eaLnBrk="0" fontAlgn="base" hangingPunct="0" indent="182880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rgbClr val="000000"/>
                </a:solidFill>
                <a:latin typeface="Calibri" pitchFamily="34" charset="0"/>
                <a:ea typeface="Calibri" pitchFamily="34" charset="0"/>
                <a:sym typeface="Calibri" pitchFamily="34" charset="0"/>
              </a:defRPr>
            </a:lvl5pPr>
          </a:lstStyle>
          <a:p>
            <a:pPr eaLnBrk="1" lvl="0"/>
          </a:p>
        </p:txBody>
      </p:sp>
      <p:grpSp>
        <p:nvGrpSpPr>
          <p:cNvPr id="254" name=""/>
          <p:cNvGrpSpPr/>
          <p:nvPr/>
        </p:nvGrpSpPr>
        <p:grpSpPr>
          <a:xfrm rot="0">
            <a:off x="1047750" y="5314950"/>
            <a:ext cx="8953500" cy="400050"/>
            <a:chOff x="0" y="0"/>
            <a:chExt cx="8953500" cy="400050"/>
          </a:xfrm>
        </p:grpSpPr>
        <p:sp>
          <p:nvSpPr>
            <p:cNvPr id="1049225" name="Rectangle"/>
            <p:cNvSpPr/>
            <p:nvPr/>
          </p:nvSpPr>
          <p:spPr>
            <a:xfrm rot="0">
              <a:off x="0" y="0"/>
              <a:ext cx="8953500" cy="400050"/>
            </a:xfrm>
            <a:prstGeom prst="rect"/>
            <a:solidFill>
              <a:srgbClr val="000000">
                <a:alpha val="0"/>
              </a:srgbClr>
            </a:solidFill>
            <a:ln w="3175" cap="flat" cmpd="sng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anchor="t" bIns="0" lIns="0" rIns="0" tIns="0" vert="horz"/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endParaRPr b="1" sz="1000">
                <a:solidFill>
                  <a:srgbClr val="FFFFFF"/>
                </a:solidFill>
                <a:latin typeface="Georgia" pitchFamily="18" charset="0"/>
                <a:ea typeface="Georgia" pitchFamily="18" charset="0"/>
                <a:sym typeface="Georgia" pitchFamily="18" charset="0"/>
              </a:endParaRPr>
            </a:p>
          </p:txBody>
        </p:sp>
        <p:sp>
          <p:nvSpPr>
            <p:cNvPr id="1049226" name="Recommended next step: build a 30-day publishing calendar with one flagship dashboard, six regional explainers, and a weekly margin-risk leaderboard."/>
            <p:cNvSpPr txBox="1"/>
            <p:nvPr/>
          </p:nvSpPr>
          <p:spPr>
            <a:xfrm rot="0">
              <a:off x="0" y="0"/>
              <a:ext cx="8953500" cy="330200"/>
            </a:xfrm>
            <a:prstGeom prst="rect"/>
            <a:noFill/>
            <a:ln>
              <a:noFill/>
            </a:ln>
          </p:spPr>
          <p:txBody>
            <a:bodyPr anchor="t" bIns="0" lIns="0" rIns="0" tIns="0" vert="horz">
              <a:spAutoFit/>
            </a:bodyPr>
            <a:lstStyle>
              <a:lvl1pPr algn="l" eaLnBrk="0" fontAlgn="base" hangingPunct="0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1pPr>
              <a:lvl2pPr algn="l" eaLnBrk="0" fontAlgn="base" hangingPunct="0" indent="4572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2pPr>
              <a:lvl3pPr algn="l" eaLnBrk="0" fontAlgn="base" hangingPunct="0" indent="9144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3pPr>
              <a:lvl4pPr algn="l" eaLnBrk="0" fontAlgn="base" hangingPunct="0" indent="13716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4pPr>
              <a:lvl5pPr algn="l" eaLnBrk="0" fontAlgn="base" hangingPunct="0" indent="182880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rgbClr val="000000"/>
                  </a:solidFill>
                  <a:latin typeface="Calibri" pitchFamily="34" charset="0"/>
                  <a:ea typeface="Calibri" pitchFamily="34" charset="0"/>
                  <a:sym typeface="Calibri" pitchFamily="34" charset="0"/>
                </a:defRPr>
              </a:lvl5pPr>
            </a:lstStyle>
            <a:p>
              <a:pPr eaLnBrk="1" lvl="0"/>
              <a:r>
                <a:rPr b="1" sz="1000" lang="zh-CN">
                  <a:solidFill>
                    <a:srgbClr val="FFFFFF"/>
                  </a:solidFill>
                  <a:latin typeface="Georgia" pitchFamily="18" charset="0"/>
                  <a:ea typeface="Georgia" pitchFamily="18" charset="0"/>
                  <a:sym typeface="Georgia" pitchFamily="18" charset="0"/>
                </a:rPr>
                <a:t>Recommended next step: build a 30-day publishing calendar with one flagship dashboard, six regional explainers, and a weekly margin-risk leaderboard.</a:t>
              </a:r>
            </a:p>
          </p:txBody>
        </p:sp>
      </p:grpSp>
    </p:spTree>
  </p:cSld>
  <p:clrMapOvr>
    <a:masterClrMapping/>
  </p:clrMapOvr>
  <p:transition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2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0909"/>
            <a:ext cx="12192000" cy="6816182"/>
          </a:xfrm>
          <a:prstGeom prst="rect"/>
        </p:spPr>
      </p:pic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535353"/>
      </a:dk2>
      <a:lt2>
        <a:srgbClr val="A7A7A7"/>
      </a:lt2>
      <a:accent1>
        <a:srgbClr val="156082"/>
      </a:accent1>
      <a:accent2>
        <a:srgbClr val="E97132"/>
      </a:accent2>
      <a:accent3>
        <a:srgbClr val="FFFFFF"/>
      </a:accent3>
      <a:accent4>
        <a:srgbClr val="000000"/>
      </a:accent4>
      <a:accent5>
        <a:srgbClr val="AAB7C1"/>
      </a:accent5>
      <a:accent6>
        <a:srgbClr val="D1652C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535353"/>
        </a:dk2>
        <a:lt2>
          <a:srgbClr val="A7A7A7"/>
        </a:lt2>
        <a:accent1>
          <a:srgbClr val="156082"/>
        </a:accent1>
        <a:accent2>
          <a:srgbClr val="E97132"/>
        </a:accent2>
        <a:accent3>
          <a:srgbClr val="FFFFFF"/>
        </a:accent3>
        <a:accent4>
          <a:srgbClr val="000000"/>
        </a:accent4>
        <a:accent5>
          <a:srgbClr val="AAB7C1"/>
        </a:accent5>
        <a:accent6>
          <a:srgbClr val="D1652C"/>
        </a:accent6>
        <a:hlink>
          <a:srgbClr val="0000FF"/>
        </a:hlink>
        <a:folHlink>
          <a:srgbClr val="FF00FF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23127PN0CG</dc:creator>
  <cp:lastModifiedBy>cloudconvert_14</cp:lastModifiedBy>
  <dcterms:created xsi:type="dcterms:W3CDTF">2026-06-06T04:05:49Z</dcterms:created>
  <dcterms:modified xsi:type="dcterms:W3CDTF">2026-06-06T04:05:49Z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c202fb54b93649ff8a34c11ecea36ce9_23</vt:lpwstr>
  </property>
</Properties>
</file>